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0" roundtripDataSignature="AMtx7mjhajbHiKFLUBDl9EgTmsA3EF/p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314288-EFBC-4375-946D-B94B9F5ED18E}">
  <a:tblStyle styleId="{10314288-EFBC-4375-946D-B94B9F5ED1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customschemas.google.com/relationships/presentationmetadata" Target="meta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onyresearch.github.io/simba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Learning in video games enables AI agents to learn, adapt, and make intelligent decisions for more realistic and dynamic gameplay.</a:t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c1c0d1614_0_7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c1c0d1614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Procedural Content Generation (PCG) automatically creates game content—like levels, maps, or assets—using algorithms, reducing manual design effort and increasing replayability.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c1c0d1614_0_7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c1c0d1614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learning models complex patterns in video games, allowing AI to predict player behavior, generate realistic environments, and create adaptive gameplay.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1c0d1614_0_8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c1c0d1614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n </a:t>
            </a:r>
            <a:r>
              <a:rPr i="1" lang="en-US">
                <a:solidFill>
                  <a:schemeClr val="dk1"/>
                </a:solidFill>
              </a:rPr>
              <a:t>The Elder Scrolls V: Skyrim</a:t>
            </a:r>
            <a:r>
              <a:rPr lang="en-US">
                <a:solidFill>
                  <a:schemeClr val="dk1"/>
                </a:solidFill>
              </a:rPr>
              <a:t>, NPCs adapt their behavior based on player actions—like fleeing, fighting, or interacting differently depending on the player’s reputation and past choices.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c1c0d1614_0_8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c1c0d1614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Adaptive Control</a:t>
            </a:r>
            <a:r>
              <a:rPr lang="en-US">
                <a:solidFill>
                  <a:schemeClr val="dk1"/>
                </a:solidFill>
              </a:rPr>
              <a:t> in video games allows AI agents or systems to dynamically adjust their strategies and actions in response to changing game environments or player behavior.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1c0d16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Transformers are a neural network architecture designed to handle sequential data. </a:t>
            </a:r>
            <a:endParaRPr/>
          </a:p>
        </p:txBody>
      </p:sp>
      <p:sp>
        <p:nvSpPr>
          <p:cNvPr id="92" name="Google Shape;92;g37c1c0d1614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DQN combines reinforcement learning’s Q-learning with deep neural networks to approximate the Q-function (state–action value).</a:t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STMs are a type of Recurrent Neural Network (RNN) designed to overcome the vanishing/exploding gradient problems of standard RNNs.</a:t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b3f79d7b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mechanism that allows a model to focus on different parts of an input sequence when encoding a particular element.</a:t>
            </a:r>
            <a:endParaRPr/>
          </a:p>
        </p:txBody>
      </p:sp>
      <p:sp>
        <p:nvSpPr>
          <p:cNvPr id="113" name="Google Shape;113;g37b3f79d7b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b3f79d7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decoder is the last fully connected (dense) layer that maps learned features to the final output </a:t>
            </a:r>
            <a:endParaRPr/>
          </a:p>
        </p:txBody>
      </p:sp>
      <p:sp>
        <p:nvSpPr>
          <p:cNvPr id="121" name="Google Shape;121;g37b3f79d7b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physics simulator designed for </a:t>
            </a:r>
            <a:r>
              <a:rPr b="1" lang="en-US">
                <a:solidFill>
                  <a:schemeClr val="dk1"/>
                </a:solidFill>
              </a:rPr>
              <a:t>robotics and reinforcement learning</a:t>
            </a:r>
            <a:r>
              <a:rPr lang="en-US">
                <a:solidFill>
                  <a:schemeClr val="dk1"/>
                </a:solidFill>
              </a:rPr>
              <a:t> research. </a:t>
            </a:r>
            <a:r>
              <a:rPr lang="en-US" sz="2000">
                <a:solidFill>
                  <a:schemeClr val="dk1"/>
                </a:solidFill>
              </a:rPr>
              <a:t>MuJoCo</a:t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b3f79d7b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Instead of a single attention calculation, the model uses multiple “heads” to learn different types of relationships in parallel</a:t>
            </a:r>
            <a:endParaRPr/>
          </a:p>
        </p:txBody>
      </p:sp>
      <p:sp>
        <p:nvSpPr>
          <p:cNvPr id="135" name="Google Shape;135;g37b3f79d7b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b3f79d7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bellman error measures the difference between the </a:t>
            </a:r>
            <a:r>
              <a:rPr b="1" lang="en-US">
                <a:solidFill>
                  <a:schemeClr val="dk1"/>
                </a:solidFill>
              </a:rPr>
              <a:t>current Q-value estimate</a:t>
            </a:r>
            <a:r>
              <a:rPr lang="en-US">
                <a:solidFill>
                  <a:schemeClr val="dk1"/>
                </a:solidFill>
              </a:rPr>
              <a:t> and the </a:t>
            </a:r>
            <a:r>
              <a:rPr b="1" lang="en-US">
                <a:solidFill>
                  <a:schemeClr val="dk1"/>
                </a:solidFill>
              </a:rPr>
              <a:t>target Q-value</a:t>
            </a:r>
            <a:r>
              <a:rPr lang="en-US">
                <a:solidFill>
                  <a:schemeClr val="dk1"/>
                </a:solidFill>
              </a:rPr>
              <a:t> predicted by the Bellman equation.</a:t>
            </a:r>
            <a:endParaRPr/>
          </a:p>
        </p:txBody>
      </p:sp>
      <p:sp>
        <p:nvSpPr>
          <p:cNvPr id="142" name="Google Shape;142;g37b3f79d7b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b3f79d7b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Q-value, or </a:t>
            </a:r>
            <a:r>
              <a:rPr b="1" lang="en-US">
                <a:solidFill>
                  <a:schemeClr val="dk1"/>
                </a:solidFill>
              </a:rPr>
              <a:t>action-value</a:t>
            </a:r>
            <a:r>
              <a:rPr lang="en-US">
                <a:solidFill>
                  <a:schemeClr val="dk1"/>
                </a:solidFill>
              </a:rPr>
              <a:t>, represents the expected future cumulative reward of taking an action </a:t>
            </a:r>
            <a:r>
              <a:rPr i="1" lang="en-US">
                <a:solidFill>
                  <a:schemeClr val="dk1"/>
                </a:solidFill>
              </a:rPr>
              <a:t>a</a:t>
            </a:r>
            <a:r>
              <a:rPr lang="en-US">
                <a:solidFill>
                  <a:schemeClr val="dk1"/>
                </a:solidFill>
              </a:rPr>
              <a:t> in state </a:t>
            </a:r>
            <a:r>
              <a:rPr i="1" lang="en-US">
                <a:solidFill>
                  <a:schemeClr val="dk1"/>
                </a:solidFill>
              </a:rPr>
              <a:t>s</a:t>
            </a:r>
            <a:r>
              <a:rPr lang="en-US">
                <a:solidFill>
                  <a:schemeClr val="dk1"/>
                </a:solidFill>
              </a:rPr>
              <a:t>, and then following the optimal policy.</a:t>
            </a:r>
            <a:endParaRPr/>
          </a:p>
        </p:txBody>
      </p:sp>
      <p:sp>
        <p:nvSpPr>
          <p:cNvPr id="149" name="Google Shape;149;g37b3f79d7b1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einforcement learning algorithm that directly learns a policy (probability distribution over actions) instead of Q-values.</a:t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b3f79d7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episode</a:t>
            </a:r>
            <a:r>
              <a:rPr lang="en-US">
                <a:solidFill>
                  <a:schemeClr val="dk1"/>
                </a:solidFill>
              </a:rPr>
              <a:t> is a complete sequence of interactions between an agent and the environment, starting from an initial state and ending at a terminal state</a:t>
            </a:r>
            <a:endParaRPr/>
          </a:p>
        </p:txBody>
      </p:sp>
      <p:sp>
        <p:nvSpPr>
          <p:cNvPr id="163" name="Google Shape;163;g37b3f79d7b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DRQN combines Deep Q-Networks (DQN) with </a:t>
            </a:r>
            <a:r>
              <a:rPr b="1" lang="en-US">
                <a:solidFill>
                  <a:schemeClr val="dk1"/>
                </a:solidFill>
              </a:rPr>
              <a:t>Recurrent Neural Networks (RNNs/LSTMs)</a:t>
            </a:r>
            <a:r>
              <a:rPr lang="en-US">
                <a:solidFill>
                  <a:schemeClr val="dk1"/>
                </a:solidFill>
              </a:rPr>
              <a:t> to handle partially observable environments.</a:t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b3f79d7b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policy </a:t>
            </a:r>
            <a:r>
              <a:rPr lang="en-US"/>
              <a:t> strategy that an agent follows, mapping states of the environment to actions to be taken.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b3f79d7b1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b3f79d7b1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b3f79d7b1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Partial observability means an agent </a:t>
            </a:r>
            <a:r>
              <a:rPr b="1" lang="en-US">
                <a:solidFill>
                  <a:schemeClr val="dk1"/>
                </a:solidFill>
              </a:rPr>
              <a:t>cannot fully observe the true state of the environment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b3f79d7b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process of </a:t>
            </a:r>
            <a:r>
              <a:rPr b="1" lang="en-US">
                <a:solidFill>
                  <a:schemeClr val="dk1"/>
                </a:solidFill>
              </a:rPr>
              <a:t>optimizing an agent’s strategy</a:t>
            </a:r>
            <a:r>
              <a:rPr lang="en-US">
                <a:solidFill>
                  <a:schemeClr val="dk1"/>
                </a:solidFill>
              </a:rPr>
              <a:t> (policy) for selecting actions based on its observations or states.</a:t>
            </a:r>
            <a:endParaRPr/>
          </a:p>
        </p:txBody>
      </p:sp>
      <p:sp>
        <p:nvSpPr>
          <p:cNvPr id="188" name="Google Shape;188;g37b3f79d7b1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b3f79d7b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Heterogeneous agents are </a:t>
            </a:r>
            <a:r>
              <a:rPr b="1" lang="en-US">
                <a:solidFill>
                  <a:schemeClr val="dk1"/>
                </a:solidFill>
              </a:rPr>
              <a:t>agents with different abilities, roles, or action spaces</a:t>
            </a:r>
            <a:r>
              <a:rPr lang="en-US">
                <a:solidFill>
                  <a:schemeClr val="dk1"/>
                </a:solidFill>
              </a:rPr>
              <a:t> within the same environment.</a:t>
            </a:r>
            <a:endParaRPr/>
          </a:p>
        </p:txBody>
      </p:sp>
      <p:sp>
        <p:nvSpPr>
          <p:cNvPr id="195" name="Google Shape;195;g37b3f79d7b1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b3f79d7b1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Credit assignment is the problem of determining </a:t>
            </a:r>
            <a:r>
              <a:rPr b="1" lang="en-US">
                <a:solidFill>
                  <a:schemeClr val="dk1"/>
                </a:solidFill>
              </a:rPr>
              <a:t>which agent’s action contributed to the overall team reward</a:t>
            </a:r>
            <a:r>
              <a:rPr lang="en-US">
                <a:solidFill>
                  <a:schemeClr val="dk1"/>
                </a:solidFill>
              </a:rPr>
              <a:t> in a multi-agent environment.</a:t>
            </a:r>
            <a:endParaRPr/>
          </a:p>
        </p:txBody>
      </p:sp>
      <p:sp>
        <p:nvSpPr>
          <p:cNvPr id="202" name="Google Shape;202;g37b3f79d7b1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b3f79d7b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Game AI design is about creating </a:t>
            </a:r>
            <a:r>
              <a:rPr b="1" lang="en-US">
                <a:solidFill>
                  <a:schemeClr val="dk1"/>
                </a:solidFill>
              </a:rPr>
              <a:t>intelligent agents or systems</a:t>
            </a:r>
            <a:r>
              <a:rPr lang="en-US">
                <a:solidFill>
                  <a:schemeClr val="dk1"/>
                </a:solidFill>
              </a:rPr>
              <a:t> that can interact with players, adapt to environments, and enhance gameplay experiences.</a:t>
            </a:r>
            <a:endParaRPr/>
          </a:p>
        </p:txBody>
      </p:sp>
      <p:sp>
        <p:nvSpPr>
          <p:cNvPr id="209" name="Google Shape;209;g37b3f79d7b1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b3f79d7b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testbed is a benchmark environment or platform</a:t>
            </a:r>
            <a:r>
              <a:rPr lang="en-US">
                <a:solidFill>
                  <a:schemeClr val="dk1"/>
                </a:solidFill>
              </a:rPr>
              <a:t> used to train, evaluate, and compare AI algorithms in controlled, repeatable settings.</a:t>
            </a:r>
            <a:endParaRPr/>
          </a:p>
        </p:txBody>
      </p:sp>
      <p:sp>
        <p:nvSpPr>
          <p:cNvPr id="216" name="Google Shape;216;g37b3f79d7b1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b3f79d7b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Comm-MARL focuses on how agents </a:t>
            </a:r>
            <a:r>
              <a:rPr b="1" lang="en-US">
                <a:solidFill>
                  <a:schemeClr val="dk1"/>
                </a:solidFill>
              </a:rPr>
              <a:t>exchange information</a:t>
            </a:r>
            <a:r>
              <a:rPr lang="en-US">
                <a:solidFill>
                  <a:schemeClr val="dk1"/>
                </a:solidFill>
              </a:rPr>
              <a:t> with each other to improve coordination and decision-making in multi-agent environments.</a:t>
            </a:r>
            <a:endParaRPr/>
          </a:p>
        </p:txBody>
      </p:sp>
      <p:sp>
        <p:nvSpPr>
          <p:cNvPr id="223" name="Google Shape;223;g37b3f79d7b1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b3f79d7b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</a:t>
            </a:r>
            <a:r>
              <a:rPr b="1" lang="en-US">
                <a:solidFill>
                  <a:schemeClr val="dk1"/>
                </a:solidFill>
              </a:rPr>
              <a:t>centralized proxy</a:t>
            </a:r>
            <a:r>
              <a:rPr lang="en-US">
                <a:solidFill>
                  <a:schemeClr val="dk1"/>
                </a:solidFill>
              </a:rPr>
              <a:t> is an intermediate hub (like a server or controller) that collects information from multiple agents and redistributes it as needed.</a:t>
            </a:r>
            <a:endParaRPr/>
          </a:p>
        </p:txBody>
      </p:sp>
      <p:sp>
        <p:nvSpPr>
          <p:cNvPr id="230" name="Google Shape;230;g37b3f79d7b1_0_3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b3f79d7b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</a:t>
            </a:r>
            <a:r>
              <a:rPr b="1" lang="en-US">
                <a:solidFill>
                  <a:schemeClr val="dk1"/>
                </a:solidFill>
              </a:rPr>
              <a:t>proxy</a:t>
            </a:r>
            <a:r>
              <a:rPr lang="en-US">
                <a:solidFill>
                  <a:schemeClr val="dk1"/>
                </a:solidFill>
              </a:rPr>
              <a:t> is an intermediate entity that acts on behalf of agents, handling communication, decision routing, or resource sharing.</a:t>
            </a:r>
            <a:endParaRPr/>
          </a:p>
        </p:txBody>
      </p:sp>
      <p:sp>
        <p:nvSpPr>
          <p:cNvPr id="236" name="Google Shape;236;g37b3f79d7b1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b3f79d7b1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Policy update is the process of </a:t>
            </a:r>
            <a:r>
              <a:rPr b="1" lang="en-US">
                <a:solidFill>
                  <a:schemeClr val="dk1"/>
                </a:solidFill>
              </a:rPr>
              <a:t>adjusting an agent’s strategy</a:t>
            </a:r>
            <a:r>
              <a:rPr lang="en-US">
                <a:solidFill>
                  <a:schemeClr val="dk1"/>
                </a:solidFill>
              </a:rPr>
              <a:t> (policy) to improve decision-making based on experience.</a:t>
            </a:r>
            <a:endParaRPr/>
          </a:p>
        </p:txBody>
      </p:sp>
      <p:sp>
        <p:nvSpPr>
          <p:cNvPr id="243" name="Google Shape;243;g37b3f79d7b1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b970e6258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b970e62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NPCs are </a:t>
            </a:r>
            <a:r>
              <a:rPr b="1" lang="en-US">
                <a:solidFill>
                  <a:schemeClr val="dk1"/>
                </a:solidFill>
              </a:rPr>
              <a:t>game characters controlled by the computer/AI</a:t>
            </a:r>
            <a:r>
              <a:rPr lang="en-US">
                <a:solidFill>
                  <a:schemeClr val="dk1"/>
                </a:solidFill>
              </a:rPr>
              <a:t>, not by a human player.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b970e62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SceneCraft is an </a:t>
            </a:r>
            <a:r>
              <a:rPr b="1" lang="en-US">
                <a:solidFill>
                  <a:schemeClr val="dk1"/>
                </a:solidFill>
              </a:rPr>
              <a:t>AI framework that integrates Large Language Models (LLMs) into game NPCs</a:t>
            </a:r>
            <a:r>
              <a:rPr lang="en-US">
                <a:solidFill>
                  <a:schemeClr val="dk1"/>
                </a:solidFill>
              </a:rPr>
              <a:t> to generate dynamic dialogues and behaviors.</a:t>
            </a:r>
            <a:endParaRPr/>
          </a:p>
        </p:txBody>
      </p:sp>
      <p:sp>
        <p:nvSpPr>
          <p:cNvPr id="255" name="Google Shape;255;g37b970e625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b970e62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Sokoban is a </a:t>
            </a:r>
            <a:r>
              <a:rPr b="1" lang="en-US">
                <a:solidFill>
                  <a:schemeClr val="dk1"/>
                </a:solidFill>
              </a:rPr>
              <a:t>classic puzzle video game</a:t>
            </a:r>
            <a:r>
              <a:rPr lang="en-US">
                <a:solidFill>
                  <a:schemeClr val="dk1"/>
                </a:solidFill>
              </a:rPr>
              <a:t> where a player pushes boxes (crates) to designated goal positions inside a maze-like warehouse.</a:t>
            </a:r>
            <a:endParaRPr/>
          </a:p>
        </p:txBody>
      </p:sp>
      <p:sp>
        <p:nvSpPr>
          <p:cNvPr id="261" name="Google Shape;261;g37b970e625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b970e62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MarioGPT is a </a:t>
            </a:r>
            <a:r>
              <a:rPr b="1" lang="en-US">
                <a:solidFill>
                  <a:schemeClr val="dk1"/>
                </a:solidFill>
              </a:rPr>
              <a:t>Generative AI model based on GPT-2</a:t>
            </a:r>
            <a:r>
              <a:rPr lang="en-US">
                <a:solidFill>
                  <a:schemeClr val="dk1"/>
                </a:solidFill>
              </a:rPr>
              <a:t> that can create new, playable levels for the classic game </a:t>
            </a:r>
            <a:r>
              <a:rPr b="1" lang="en-US">
                <a:solidFill>
                  <a:schemeClr val="dk1"/>
                </a:solidFill>
              </a:rPr>
              <a:t>Super Mario Bros.</a:t>
            </a:r>
            <a:endParaRPr/>
          </a:p>
        </p:txBody>
      </p:sp>
      <p:sp>
        <p:nvSpPr>
          <p:cNvPr id="267" name="Google Shape;267;g37b970e625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b970e62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Dragon’s Dogma</a:t>
            </a:r>
            <a:r>
              <a:rPr lang="en-US">
                <a:solidFill>
                  <a:schemeClr val="dk1"/>
                </a:solidFill>
              </a:rPr>
              <a:t> is already known for its </a:t>
            </a:r>
            <a:r>
              <a:rPr b="1" lang="en-US">
                <a:solidFill>
                  <a:schemeClr val="dk1"/>
                </a:solidFill>
              </a:rPr>
              <a:t>pawn system</a:t>
            </a:r>
            <a:r>
              <a:rPr lang="en-US">
                <a:solidFill>
                  <a:schemeClr val="dk1"/>
                </a:solidFill>
              </a:rPr>
              <a:t>, where your AI companions learn from your actions and can be shared with other players.</a:t>
            </a:r>
            <a:endParaRPr/>
          </a:p>
        </p:txBody>
      </p:sp>
      <p:sp>
        <p:nvSpPr>
          <p:cNvPr id="273" name="Google Shape;273;g37b970e6258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b970e625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Stardew Valley</a:t>
            </a:r>
            <a:r>
              <a:rPr lang="en-US">
                <a:solidFill>
                  <a:schemeClr val="dk1"/>
                </a:solidFill>
              </a:rPr>
              <a:t> is a farming simulation and life RPG where the player interacts with townsfolk, grows crops, raises animals, and builds relationships.</a:t>
            </a:r>
            <a:endParaRPr/>
          </a:p>
        </p:txBody>
      </p:sp>
      <p:sp>
        <p:nvSpPr>
          <p:cNvPr id="279" name="Google Shape;279;g37b970e6258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b970e625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Keep humans in the loop to review AI outputs, ensure originality, and maintain ethical standards in game design. last point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85" name="Google Shape;285;g37b970e6258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9b87ed88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SimBa is a framework that helps deep RL scale up with more parameters safely, improving learning efficiency and performance across multiple environments.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92" name="Google Shape;292;g379b87ed889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9b87ed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SIMPLICITY BIAS natural tendency of neural networks to learn </a:t>
            </a:r>
            <a:r>
              <a:rPr b="1" lang="en-US">
                <a:solidFill>
                  <a:schemeClr val="dk1"/>
                </a:solidFill>
              </a:rPr>
              <a:t>simpler, more generalizable patterns</a:t>
            </a:r>
            <a:r>
              <a:rPr lang="en-US">
                <a:solidFill>
                  <a:schemeClr val="dk1"/>
                </a:solidFill>
              </a:rPr>
              <a:t> instead of overly complex ones, even when they have the capacity to memorize.</a:t>
            </a:r>
            <a:endParaRPr/>
          </a:p>
        </p:txBody>
      </p:sp>
      <p:sp>
        <p:nvSpPr>
          <p:cNvPr id="297" name="Google Shape;297;g379b87ed88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9b87ed88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DMC</a:t>
            </a:r>
            <a:r>
              <a:rPr lang="en-US">
                <a:solidFill>
                  <a:schemeClr val="dk1"/>
                </a:solidFill>
              </a:rPr>
              <a:t> – DeepMind Control Suite for physics-based continuous control tasks. </a:t>
            </a:r>
            <a:r>
              <a:rPr b="1" lang="en-US">
                <a:solidFill>
                  <a:schemeClr val="dk1"/>
                </a:solidFill>
              </a:rPr>
              <a:t>Craftax</a:t>
            </a:r>
            <a:r>
              <a:rPr lang="en-US">
                <a:solidFill>
                  <a:schemeClr val="dk1"/>
                </a:solidFill>
              </a:rPr>
              <a:t> – Resource-management environment inspired by Minecraft.</a:t>
            </a:r>
            <a:br>
              <a:rPr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Humanoid</a:t>
            </a:r>
            <a:r>
              <a:rPr lang="en-US">
                <a:solidFill>
                  <a:schemeClr val="dk1"/>
                </a:solidFill>
              </a:rPr>
              <a:t> – Benchmark for complex humanoid locomotion and control.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79b87ed889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9b87ed88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SAC</a:t>
            </a:r>
            <a:r>
              <a:rPr lang="en-US">
                <a:solidFill>
                  <a:schemeClr val="dk1"/>
                </a:solidFill>
              </a:rPr>
              <a:t> – </a:t>
            </a:r>
            <a:r>
              <a:rPr i="1" lang="en-US">
                <a:solidFill>
                  <a:schemeClr val="dk1"/>
                </a:solidFill>
              </a:rPr>
              <a:t>Soft Actor-Critic</a:t>
            </a:r>
            <a:r>
              <a:rPr lang="en-US">
                <a:solidFill>
                  <a:schemeClr val="dk1"/>
                </a:solidFill>
              </a:rPr>
              <a:t>, an off-policy RL algorithm balancing exploration and exploitation with entropy regularization.</a:t>
            </a:r>
            <a:r>
              <a:rPr b="1" lang="en-US">
                <a:solidFill>
                  <a:schemeClr val="dk1"/>
                </a:solidFill>
              </a:rPr>
              <a:t>TD-MPC2</a:t>
            </a:r>
            <a:r>
              <a:rPr lang="en-US">
                <a:solidFill>
                  <a:schemeClr val="dk1"/>
                </a:solidFill>
              </a:rPr>
              <a:t> – </a:t>
            </a:r>
            <a:r>
              <a:rPr i="1" lang="en-US">
                <a:solidFill>
                  <a:schemeClr val="dk1"/>
                </a:solidFill>
              </a:rPr>
              <a:t>Trajectory-Based Model Predictive Control v2</a:t>
            </a:r>
            <a:r>
              <a:rPr lang="en-US">
                <a:solidFill>
                  <a:schemeClr val="dk1"/>
                </a:solidFill>
              </a:rPr>
              <a:t>, a model-based RL method for efficient decision-making.</a:t>
            </a:r>
            <a:r>
              <a:rPr b="1" lang="en-US">
                <a:solidFill>
                  <a:schemeClr val="dk1"/>
                </a:solidFill>
              </a:rPr>
              <a:t>PPO</a:t>
            </a:r>
            <a:r>
              <a:rPr lang="en-US">
                <a:solidFill>
                  <a:schemeClr val="dk1"/>
                </a:solidFill>
              </a:rPr>
              <a:t> – </a:t>
            </a:r>
            <a:r>
              <a:rPr i="1" lang="en-US">
                <a:solidFill>
                  <a:schemeClr val="dk1"/>
                </a:solidFill>
              </a:rPr>
              <a:t>Proximal Policy Optimization</a:t>
            </a:r>
            <a:r>
              <a:rPr lang="en-US">
                <a:solidFill>
                  <a:schemeClr val="dk1"/>
                </a:solidFill>
              </a:rPr>
              <a:t>, a popular on-policy RL algorithm ensuring stable policy updates.</a:t>
            </a:r>
            <a:br>
              <a:rPr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METRA</a:t>
            </a:r>
            <a:r>
              <a:rPr lang="en-US">
                <a:solidFill>
                  <a:schemeClr val="dk1"/>
                </a:solidFill>
              </a:rPr>
              <a:t> – </a:t>
            </a:r>
            <a:r>
              <a:rPr i="1" lang="en-US">
                <a:solidFill>
                  <a:schemeClr val="dk1"/>
                </a:solidFill>
              </a:rPr>
              <a:t>Meta Reinforcement Learning with Trajectories</a:t>
            </a:r>
            <a:r>
              <a:rPr lang="en-US">
                <a:solidFill>
                  <a:schemeClr val="dk1"/>
                </a:solidFill>
              </a:rPr>
              <a:t>, an unsupervised RL approach for learning from diverse experiences.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79b87ed889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9b87ed8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Observation normalization</a:t>
            </a:r>
            <a:r>
              <a:rPr lang="en-US">
                <a:solidFill>
                  <a:schemeClr val="dk1"/>
                </a:solidFill>
              </a:rPr>
              <a:t> – standardizes game inputs for stable learning.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Residual feedforward blocks</a:t>
            </a:r>
            <a:r>
              <a:rPr lang="en-US">
                <a:solidFill>
                  <a:schemeClr val="dk1"/>
                </a:solidFill>
              </a:rPr>
              <a:t> – provide efficient pathways for processing game states.</a:t>
            </a:r>
            <a:br>
              <a:rPr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Layer normalization</a:t>
            </a:r>
            <a:r>
              <a:rPr lang="en-US">
                <a:solidFill>
                  <a:schemeClr val="dk1"/>
                </a:solidFill>
              </a:rPr>
              <a:t> – controls feature magnitudes to ensure consistent agent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79b87ed88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9b87ed88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SIMBA Consistently achieves </a:t>
            </a:r>
            <a:r>
              <a:rPr b="1" lang="en-US">
                <a:solidFill>
                  <a:schemeClr val="dk1"/>
                </a:solidFill>
              </a:rPr>
              <a:t>faster learning</a:t>
            </a:r>
            <a:r>
              <a:rPr lang="en-US">
                <a:solidFill>
                  <a:schemeClr val="dk1"/>
                </a:solidFill>
              </a:rPr>
              <a:t> and higher returns across off-policy, on-policy, and unsupervised RL methods.</a:t>
            </a:r>
            <a:endParaRPr/>
          </a:p>
        </p:txBody>
      </p:sp>
      <p:sp>
        <p:nvSpPr>
          <p:cNvPr id="324" name="Google Shape;324;g379b87ed889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9b87ed88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Across all benchmarks, </a:t>
            </a:r>
            <a:r>
              <a:rPr b="1" lang="en-US">
                <a:solidFill>
                  <a:schemeClr val="dk1"/>
                </a:solidFill>
              </a:rPr>
              <a:t>SAC + SimBa</a:t>
            </a:r>
            <a:r>
              <a:rPr lang="en-US">
                <a:solidFill>
                  <a:schemeClr val="dk1"/>
                </a:solidFill>
              </a:rPr>
              <a:t> reaches higher rewards in </a:t>
            </a:r>
            <a:r>
              <a:rPr b="1" lang="en-US">
                <a:solidFill>
                  <a:schemeClr val="dk1"/>
                </a:solidFill>
              </a:rPr>
              <a:t>less compute time</a:t>
            </a:r>
            <a:r>
              <a:rPr lang="en-US">
                <a:solidFill>
                  <a:schemeClr val="dk1"/>
                </a:solidFill>
              </a:rPr>
              <a:t> compared to baselines.</a:t>
            </a:r>
            <a:endParaRPr/>
          </a:p>
        </p:txBody>
      </p:sp>
      <p:sp>
        <p:nvSpPr>
          <p:cNvPr id="331" name="Google Shape;331;g379b87ed889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9b87ed8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SimBa-enhanced models beat strong methods like </a:t>
            </a:r>
            <a:r>
              <a:rPr b="1" lang="en-US">
                <a:solidFill>
                  <a:schemeClr val="dk1"/>
                </a:solidFill>
              </a:rPr>
              <a:t>TD-MPC2, DreamerV3, and BRO</a:t>
            </a:r>
            <a:r>
              <a:rPr lang="en-US">
                <a:solidFill>
                  <a:schemeClr val="dk1"/>
                </a:solidFill>
              </a:rPr>
              <a:t>, not just SAC.</a:t>
            </a:r>
            <a:endParaRPr/>
          </a:p>
        </p:txBody>
      </p:sp>
      <p:sp>
        <p:nvSpPr>
          <p:cNvPr id="337" name="Google Shape;337;g379b87ed88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9b87ed8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</a:t>
            </a:r>
            <a:r>
              <a:rPr b="1" lang="en-US">
                <a:solidFill>
                  <a:schemeClr val="dk1"/>
                </a:solidFill>
              </a:rPr>
              <a:t>simplicity bias score</a:t>
            </a:r>
            <a:r>
              <a:rPr lang="en-US">
                <a:solidFill>
                  <a:schemeClr val="dk1"/>
                </a:solidFill>
              </a:rPr>
              <a:t> is a measure that quantifies how strongly a neural network tends to prefer </a:t>
            </a:r>
            <a:r>
              <a:rPr b="1" lang="en-US">
                <a:solidFill>
                  <a:schemeClr val="dk1"/>
                </a:solidFill>
              </a:rPr>
              <a:t>simpler, more generalizable solutions</a:t>
            </a:r>
            <a:r>
              <a:rPr lang="en-US">
                <a:solidFill>
                  <a:schemeClr val="dk1"/>
                </a:solidFill>
              </a:rPr>
              <a:t> over complex ones when learning.</a:t>
            </a:r>
            <a:endParaRPr/>
          </a:p>
        </p:txBody>
      </p:sp>
      <p:sp>
        <p:nvSpPr>
          <p:cNvPr id="344" name="Google Shape;344;g379b87ed88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9b87ed88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MLP is a fully connected feedforward neural network with an input layer, one or more hidden layers, and an output layer. Multilayer Perceptron</a:t>
            </a:r>
            <a:endParaRPr/>
          </a:p>
        </p:txBody>
      </p:sp>
      <p:sp>
        <p:nvSpPr>
          <p:cNvPr id="351" name="Google Shape;351;g379b87ed889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9b87ed88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Network parameters are the </a:t>
            </a:r>
            <a:r>
              <a:rPr b="1" lang="en-US">
                <a:solidFill>
                  <a:schemeClr val="dk1"/>
                </a:solidFill>
              </a:rPr>
              <a:t>learnable weights and biases</a:t>
            </a:r>
            <a:r>
              <a:rPr lang="en-US">
                <a:solidFill>
                  <a:schemeClr val="dk1"/>
                </a:solidFill>
              </a:rPr>
              <a:t> inside a neural network that are updated during training.</a:t>
            </a:r>
            <a:endParaRPr/>
          </a:p>
        </p:txBody>
      </p:sp>
      <p:sp>
        <p:nvSpPr>
          <p:cNvPr id="359" name="Google Shape;359;g379b87ed889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9b87ed88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DMC Humanoid is a </a:t>
            </a:r>
            <a:r>
              <a:rPr b="1" lang="en-US">
                <a:solidFill>
                  <a:schemeClr val="dk1"/>
                </a:solidFill>
              </a:rPr>
              <a:t>benchmark task</a:t>
            </a:r>
            <a:r>
              <a:rPr lang="en-US">
                <a:solidFill>
                  <a:schemeClr val="dk1"/>
                </a:solidFill>
              </a:rPr>
              <a:t> from the </a:t>
            </a:r>
            <a:r>
              <a:rPr b="1" lang="en-US">
                <a:solidFill>
                  <a:schemeClr val="dk1"/>
                </a:solidFill>
              </a:rPr>
              <a:t>DeepMind Control Suite (DMC)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365" name="Google Shape;365;g379b87ed889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9b87ed88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dmc </a:t>
            </a:r>
            <a:r>
              <a:rPr lang="en-US">
                <a:solidFill>
                  <a:schemeClr val="dk1"/>
                </a:solidFill>
              </a:rPr>
              <a:t>humanoid</a:t>
            </a:r>
            <a:r>
              <a:rPr lang="en-US">
                <a:solidFill>
                  <a:schemeClr val="dk1"/>
                </a:solidFill>
              </a:rPr>
              <a:t> involves controlling a simulated </a:t>
            </a:r>
            <a:r>
              <a:rPr b="1" lang="en-US">
                <a:solidFill>
                  <a:schemeClr val="dk1"/>
                </a:solidFill>
              </a:rPr>
              <a:t>3D humanoid robot</a:t>
            </a:r>
            <a:r>
              <a:rPr lang="en-US">
                <a:solidFill>
                  <a:schemeClr val="dk1"/>
                </a:solidFill>
              </a:rPr>
              <a:t> with multiple joints.</a:t>
            </a:r>
            <a:endParaRPr/>
          </a:p>
        </p:txBody>
      </p:sp>
      <p:sp>
        <p:nvSpPr>
          <p:cNvPr id="373" name="Google Shape;373;g379b87ed889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bc10411d9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bc10411d9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</a:t>
            </a:r>
            <a:r>
              <a:rPr lang="en-US" sz="20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https://sonyresearch.github.io/simba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b87ed8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RSNorm stands for </a:t>
            </a:r>
            <a:r>
              <a:rPr b="1" lang="en-US">
                <a:solidFill>
                  <a:schemeClr val="dk1"/>
                </a:solidFill>
              </a:rPr>
              <a:t>Running Statistics Normalization</a:t>
            </a:r>
            <a:r>
              <a:rPr lang="en-US">
                <a:solidFill>
                  <a:schemeClr val="dk1"/>
                </a:solidFill>
              </a:rPr>
              <a:t>, a normalization technique used in SimBa.</a:t>
            </a:r>
            <a:endParaRPr/>
          </a:p>
        </p:txBody>
      </p:sp>
      <p:sp>
        <p:nvSpPr>
          <p:cNvPr id="385" name="Google Shape;385;g379b87ed88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9b87ed88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RSNorm standardizes inputs using </a:t>
            </a:r>
            <a:r>
              <a:rPr b="1" lang="en-US">
                <a:solidFill>
                  <a:schemeClr val="dk1"/>
                </a:solidFill>
              </a:rPr>
              <a:t>running averages of mean and variance</a:t>
            </a:r>
            <a:r>
              <a:rPr lang="en-US">
                <a:solidFill>
                  <a:schemeClr val="dk1"/>
                </a:solidFill>
              </a:rPr>
              <a:t>, keeping feature scales stable during training.</a:t>
            </a:r>
            <a:endParaRPr/>
          </a:p>
        </p:txBody>
      </p:sp>
      <p:sp>
        <p:nvSpPr>
          <p:cNvPr id="392" name="Google Shape;392;g379b87ed889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bc10411d9_2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bc10411d9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Normalization layers (RSNorm &amp; LayerNorm) </a:t>
            </a:r>
            <a:r>
              <a:rPr b="1" lang="en-US">
                <a:solidFill>
                  <a:schemeClr val="dk1"/>
                </a:solidFill>
              </a:rPr>
              <a:t>lower functional complexity</a:t>
            </a:r>
            <a:r>
              <a:rPr lang="en-US">
                <a:solidFill>
                  <a:schemeClr val="dk1"/>
                </a:solidFill>
              </a:rPr>
              <a:t>, guiding the model toward simpler solutions.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c4a8e47f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7c4a8e47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Residual-MPPI</a:t>
            </a:r>
            <a:r>
              <a:rPr lang="en-US">
                <a:solidFill>
                  <a:schemeClr val="dk1"/>
                </a:solidFill>
              </a:rPr>
              <a:t> is generally faster than </a:t>
            </a:r>
            <a:r>
              <a:rPr b="1" lang="en-US">
                <a:solidFill>
                  <a:schemeClr val="dk1"/>
                </a:solidFill>
              </a:rPr>
              <a:t>SimBa</a:t>
            </a:r>
            <a:r>
              <a:rPr lang="en-US">
                <a:solidFill>
                  <a:schemeClr val="dk1"/>
                </a:solidFill>
              </a:rPr>
              <a:t> for real-time control tasks because it focuses on optimizing trajectories using corrective residuals, whereas SimBa simulates more complex, behavior-driven NPC interactions which can be computationally heavier.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c4a8e47f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7c4a8e47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 </a:t>
            </a:r>
            <a:r>
              <a:rPr i="1" lang="en-US">
                <a:solidFill>
                  <a:schemeClr val="dk1"/>
                </a:solidFill>
              </a:rPr>
              <a:t>Forza Horizon</a:t>
            </a:r>
            <a:r>
              <a:rPr lang="en-US">
                <a:solidFill>
                  <a:schemeClr val="dk1"/>
                </a:solidFill>
              </a:rPr>
              <a:t>, AI can be set to race fast, save fuel, or drift stylishly by changing its priorities.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c4a8e47f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c4a8e47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Online Customization in Residual-MPPI</a:t>
            </a:r>
            <a:r>
              <a:rPr lang="en-US">
                <a:solidFill>
                  <a:schemeClr val="dk1"/>
                </a:solidFill>
              </a:rPr>
              <a:t> allows the control policy to adapt in real-time to new tasks, environments, or user preferences by updating residual corrections during execution.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c4a8e47f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7c4a8e47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Distribution Shifts</a:t>
            </a:r>
            <a:r>
              <a:rPr lang="en-US">
                <a:solidFill>
                  <a:schemeClr val="dk1"/>
                </a:solidFill>
              </a:rPr>
              <a:t> occur when the environment or input data changes from what a model or policy was trained on, potentially causing performance degradation.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c4a8e47f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7c4a8e47f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Zero-shot MPPI</a:t>
            </a:r>
            <a:r>
              <a:rPr lang="en-US">
                <a:solidFill>
                  <a:schemeClr val="dk1"/>
                </a:solidFill>
              </a:rPr>
              <a:t>: Executes Model Predictive Path Integral control in new scenarios without any prior task-specific training.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Few-shot MPPI</a:t>
            </a:r>
            <a:r>
              <a:rPr lang="en-US">
                <a:solidFill>
                  <a:schemeClr val="dk1"/>
                </a:solidFill>
              </a:rPr>
              <a:t>: Adapts MPPI quickly to new environments using only a small amount of task-specific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Residual-SAC</a:t>
            </a:r>
            <a:r>
              <a:rPr lang="en-US">
                <a:solidFill>
                  <a:schemeClr val="dk1"/>
                </a:solidFill>
              </a:rPr>
              <a:t>: Combines Soft Actor-Critic (SAC) with residual learning to refine policies and improve adaptability in dynamic environments.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c4a8e47fb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7c4a8e47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AWAC (Advantage-Weighted Actor-Critic)</a:t>
            </a:r>
            <a:r>
              <a:rPr lang="en-US">
                <a:solidFill>
                  <a:schemeClr val="dk1"/>
                </a:solidFill>
              </a:rPr>
              <a:t> is an offline reinforcement learning algorithm that improves policy learning by weighting actions according to their advantage, enabling safer and more efficient learning from pre-collected data.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c4a8e47fb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c4a8e47f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Greedy-MPPI</a:t>
            </a:r>
            <a:r>
              <a:rPr lang="en-US">
                <a:solidFill>
                  <a:schemeClr val="dk1"/>
                </a:solidFill>
              </a:rPr>
              <a:t> is a variant of Model Predictive Path Integral control that selects the trajectory with the lowest predicted cost at each step, focusing on immediate optimal actions rather than exploring multiple alternatives.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7c4a8e47fb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7c4a8e47f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MPPI is a </a:t>
            </a:r>
            <a:r>
              <a:rPr lang="en-US"/>
              <a:t>control algorithm that plans optimal trajectories by sampling multiple possible future paths, evaluating their costs, and selecting the best action sequence for dynamic and uncertain environments.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c1c0d1614_0_8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7c1c0d1614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these five techniques, a racing simulator could feature AI opponents that learn and adapt in real time (Transformer-Based RL &amp; Residual-MPPI), dynamically generated tracks and challenges (Procedural Content), coordinated team behavior in multiplayer scenarios (MADRL), and realistic NPC reactions and story-driven events (SimBa &amp; AI-Driven Narrative).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7c1c0d1614_0_8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7c1c0d1614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Microsoft Flight Simulator</a:t>
            </a:r>
            <a:r>
              <a:rPr lang="en-US">
                <a:solidFill>
                  <a:schemeClr val="dk1"/>
                </a:solidFill>
              </a:rPr>
              <a:t> uses deep learning to model realistic weather patterns, aircraft behavior, and air traffic, enabling highly realistic and adaptive flight simulation.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c1c0d1614_0_8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c1c0d1614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c1c0d1614_0_729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7c1c0d1614_0_729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7c1c0d1614_0_7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c1c0d1614_0_73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7c1c0d1614_0_7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7c1c0d1614_0_7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7c1c0d1614_0_7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7c1c0d1614_0_7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c1c0d1614_0_7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7c1c0d1614_0_740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7c1c0d1614_0_740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7c1c0d1614_0_7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c1c0d1614_0_7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7c1c0d1614_0_7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7c1c0d1614_0_74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7c1c0d1614_0_74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7c1c0d1614_0_7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7c1c0d1614_0_752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7c1c0d1614_0_7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c1c0d1614_0_755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7c1c0d1614_0_755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7c1c0d1614_0_755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7c1c0d1614_0_755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7c1c0d1614_0_7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c1c0d1614_0_76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7c1c0d1614_0_7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c1c0d1614_0_764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7c1c0d1614_0_764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7c1c0d1614_0_7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c1c0d1614_0_7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1c0d1614_0_7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7c1c0d1614_0_77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7c1c0d1614_0_7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7c1c0d1614_0_7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7c1c0d1614_0_7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c1c0d1614_0_7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7c1c0d1614_0_7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7c1c0d1614_0_7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drive.google.com/file/d/1Q-07H2WSIsyhZRV0l96qLxklYYAauW5-/view" TargetMode="External"/><Relationship Id="rId4" Type="http://schemas.openxmlformats.org/officeDocument/2006/relationships/image" Target="../media/image1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drive.google.com/file/d/1nJGmT2vKdT7BVxgr0hyqYgBBAyzTXRC8/view" TargetMode="External"/><Relationship Id="rId4" Type="http://schemas.openxmlformats.org/officeDocument/2006/relationships/image" Target="../media/image1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drive.google.com/file/d/1thpaJoS7DYhLZADs_0hkkHRTFPfvYkPY/view" TargetMode="External"/><Relationship Id="rId4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drive.google.com/file/d/1uYPWkQ-7liVLtX338lMuLbM2Lu3T25do/view" TargetMode="External"/><Relationship Id="rId4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drive.google.com/file/d/1SaOYQ4j0z7Ven89C8fyTdyGd9DjJ4vVn/view" TargetMode="External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drive.google.com/file/d/1ewr7y4YmFtITy-VzCOSIyxe3RmMSUy7O/view" TargetMode="External"/><Relationship Id="rId4" Type="http://schemas.openxmlformats.org/officeDocument/2006/relationships/image" Target="../media/image2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drive.google.com/file/d/1Bq4WMzjPZ6_p0tHxst91Wj877Y8tV49O/view" TargetMode="External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drive.google.com/file/d/1wGV2Y1Sgd2rjN9OekN7hSoJ2ch-Ya0p7/view" TargetMode="External"/><Relationship Id="rId4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://drive.google.com/file/d/1ESWU2KvLPA0nuxScLZV8-IyDJ2SAfsF-/view" TargetMode="External"/><Relationship Id="rId4" Type="http://schemas.openxmlformats.org/officeDocument/2006/relationships/image" Target="../media/image20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drive.google.com/file/d/1VjH0PzzAeS8saSV0It5Rs1gbOXed1-U8/view" TargetMode="External"/><Relationship Id="rId4" Type="http://schemas.openxmlformats.org/officeDocument/2006/relationships/image" Target="../media/image29.jpg"/><Relationship Id="rId5" Type="http://schemas.openxmlformats.org/officeDocument/2006/relationships/hyperlink" Target="http://drive.google.com/file/d/1rWVXeMx2iL3XCPlpKaGKX-_vxbK4082r/view" TargetMode="External"/><Relationship Id="rId6" Type="http://schemas.openxmlformats.org/officeDocument/2006/relationships/image" Target="../media/image3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8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Deep Learning in Video Games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John Abraham Chandy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24030194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MSc CS AI 2nd year</a:t>
            </a:r>
            <a:endParaRPr/>
          </a:p>
        </p:txBody>
      </p:sp>
      <p:pic>
        <p:nvPicPr>
          <p:cNvPr descr="Complex angled lines, vintage patterns, rococo scrolls (Provided by Getty Images)" id="62" name="Google Shape;6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40533"/>
            <a:ext cx="1717468" cy="1717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lex angled lines, vintage patterns, rococo scrolls (Provided by Getty Images)" id="63" name="Google Shape;6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897350" y="4"/>
            <a:ext cx="1246648" cy="1246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lex angled lines, vintage patterns, rococo scrolls (Provided by Getty Images)" id="64" name="Google Shape;6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426524" y="5140535"/>
            <a:ext cx="1717468" cy="1717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lex angled lines, vintage patterns, rococo scrolls (Provided by Getty Images)" id="65" name="Google Shape;6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" y="0"/>
            <a:ext cx="1081948" cy="1081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1c0d1614_0_78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71" name="Google Shape;71;g37c1c0d1614_0_78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Transformative Role of Deep Learning</a:t>
            </a:r>
            <a:r>
              <a:rPr lang="en-US" sz="2000">
                <a:solidFill>
                  <a:schemeClr val="dk1"/>
                </a:solidFill>
              </a:rPr>
              <a:t> – Examines how deep learning is reshaping the video game industry.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Key Applications</a:t>
            </a:r>
            <a:r>
              <a:rPr lang="en-US" sz="2000">
                <a:solidFill>
                  <a:schemeClr val="dk1"/>
                </a:solidFill>
              </a:rPr>
              <a:t> – Includes reinforcement learning for intelligent agents, procedural content generation, and real-time behavior adaptation.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Comparative Analysis</a:t>
            </a:r>
            <a:r>
              <a:rPr lang="en-US" sz="2000">
                <a:solidFill>
                  <a:schemeClr val="dk1"/>
                </a:solidFill>
              </a:rPr>
              <a:t> – Covers transformer-based agents, multi-agent systems, and adaptive gameplay personalization.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Insights &amp; Future Directions</a:t>
            </a:r>
            <a:r>
              <a:rPr lang="en-US" sz="2000">
                <a:solidFill>
                  <a:schemeClr val="dk1"/>
                </a:solidFill>
              </a:rPr>
              <a:t> – Highlights current advances and potential opportunities.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1c0d1614_0_79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77" name="Google Shape;77;g37c1c0d1614_0_79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Deep Learning</a:t>
            </a:r>
            <a:r>
              <a:rPr lang="en-US" sz="2000">
                <a:solidFill>
                  <a:schemeClr val="dk1"/>
                </a:solidFill>
              </a:rPr>
              <a:t> – A subset of machine learning using neural networks to model complex patterns.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Reinforcement Learning</a:t>
            </a:r>
            <a:r>
              <a:rPr lang="en-US" sz="2000">
                <a:solidFill>
                  <a:schemeClr val="dk1"/>
                </a:solidFill>
              </a:rPr>
              <a:t> – Training agents to make decisions by rewarding desired behaviors in an environment.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Procedural Content Generation</a:t>
            </a:r>
            <a:r>
              <a:rPr lang="en-US" sz="2000">
                <a:solidFill>
                  <a:schemeClr val="dk1"/>
                </a:solidFill>
              </a:rPr>
              <a:t> – Automatically creating game content like levels, maps, or items using algorithms.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Adaptive Gameplay Personalization</a:t>
            </a:r>
            <a:r>
              <a:rPr lang="en-US" sz="2000">
                <a:solidFill>
                  <a:schemeClr val="dk1"/>
                </a:solidFill>
              </a:rPr>
              <a:t> – Adjusting game behavior and difficulty in real-time based on player actions.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c1c0d1614_0_80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3" name="Google Shape;83;g37c1c0d1614_0_80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Revolutionizing Game Development</a:t>
            </a:r>
            <a:r>
              <a:rPr lang="en-US" sz="2000">
                <a:solidFill>
                  <a:schemeClr val="dk1"/>
                </a:solidFill>
              </a:rPr>
              <a:t> – Deep learning is transforming how games are designed and played.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Smarter NPCs</a:t>
            </a:r>
            <a:r>
              <a:rPr lang="en-US" sz="2000">
                <a:solidFill>
                  <a:schemeClr val="dk1"/>
                </a:solidFill>
              </a:rPr>
              <a:t> – Enables non-player characters to learn, adapt, and make decisions autonomously.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Dynamic Content Creation</a:t>
            </a:r>
            <a:r>
              <a:rPr lang="en-US" sz="2000">
                <a:solidFill>
                  <a:schemeClr val="dk1"/>
                </a:solidFill>
              </a:rPr>
              <a:t> – Supports procedural generation of levels, assets, and environments.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Enhanced Player Experience</a:t>
            </a:r>
            <a:r>
              <a:rPr lang="en-US" sz="2000">
                <a:solidFill>
                  <a:schemeClr val="dk1"/>
                </a:solidFill>
              </a:rPr>
              <a:t> – Facilitates adaptive gameplay and personalized experiences.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c1c0d1614_0_80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89" name="Google Shape;89;g37c1c0d1614_0_80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38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6630">
                <a:solidFill>
                  <a:schemeClr val="dk1"/>
                </a:solidFill>
              </a:rPr>
              <a:t>Transformer-Based Reinforcement Learning</a:t>
            </a:r>
            <a:endParaRPr b="1" sz="663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630">
              <a:solidFill>
                <a:schemeClr val="dk1"/>
              </a:solidFill>
            </a:endParaRPr>
          </a:p>
          <a:p>
            <a:pPr indent="-3338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6630">
                <a:solidFill>
                  <a:schemeClr val="dk1"/>
                </a:solidFill>
              </a:rPr>
              <a:t>Multi-Agent Deep Reinforcement Learning (MADRL)</a:t>
            </a:r>
            <a:endParaRPr b="1" sz="663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630">
              <a:solidFill>
                <a:schemeClr val="dk1"/>
              </a:solidFill>
            </a:endParaRPr>
          </a:p>
          <a:p>
            <a:pPr indent="-3338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6630">
                <a:solidFill>
                  <a:schemeClr val="dk1"/>
                </a:solidFill>
              </a:rPr>
              <a:t>Procedural Content and AI-Driven Narrative</a:t>
            </a:r>
            <a:endParaRPr b="1" sz="663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630">
              <a:solidFill>
                <a:schemeClr val="dk1"/>
              </a:solidFill>
            </a:endParaRPr>
          </a:p>
          <a:p>
            <a:pPr indent="-3338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6630">
                <a:solidFill>
                  <a:schemeClr val="dk1"/>
                </a:solidFill>
              </a:rPr>
              <a:t>SimBa for Real-Time Behavior</a:t>
            </a:r>
            <a:endParaRPr b="1" sz="663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630">
              <a:solidFill>
                <a:schemeClr val="dk1"/>
              </a:solidFill>
            </a:endParaRPr>
          </a:p>
          <a:p>
            <a:pPr indent="-3338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6630">
                <a:solidFill>
                  <a:schemeClr val="dk1"/>
                </a:solidFill>
              </a:rPr>
              <a:t>Residual-MPPI for Adaptive Control</a:t>
            </a:r>
            <a:br>
              <a:rPr lang="en-US" sz="6630">
                <a:solidFill>
                  <a:schemeClr val="dk1"/>
                </a:solidFill>
              </a:rPr>
            </a:br>
            <a:endParaRPr sz="66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1c0d1614_0_1"/>
          <p:cNvSpPr txBox="1"/>
          <p:nvPr>
            <p:ph type="ctrTitle"/>
          </p:nvPr>
        </p:nvSpPr>
        <p:spPr>
          <a:xfrm>
            <a:off x="311708" y="1631692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We Need Transformers to Play FPS Video Games?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457200" y="274642"/>
            <a:ext cx="8229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VizDoom Environment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528075" y="913600"/>
            <a:ext cx="83916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Doom-based RL Platform</a:t>
            </a:r>
            <a:r>
              <a:rPr lang="en-US" sz="2000">
                <a:solidFill>
                  <a:schemeClr val="dk1"/>
                </a:solidFill>
              </a:rPr>
              <a:t> – VizDoom is built on the classic 1993 Doom engine, providing a customizable environment for reinforcement learning (RL) research.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Pixel-based Input</a:t>
            </a:r>
            <a:r>
              <a:rPr lang="en-US" sz="2000">
                <a:solidFill>
                  <a:schemeClr val="dk1"/>
                </a:solidFill>
              </a:rPr>
              <a:t> – Agents interact with the game using raw pixel observations, simulating human-like vision and decision-making.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Benchmark for AI Agents</a:t>
            </a:r>
            <a:r>
              <a:rPr lang="en-US" sz="2000">
                <a:solidFill>
                  <a:schemeClr val="dk1"/>
                </a:solidFill>
              </a:rPr>
              <a:t> – Widely used for testing navigation, combat, and strategic decision-making in complex, partially observable environments.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Customizable Scenarios</a:t>
            </a:r>
            <a:r>
              <a:rPr lang="en-US" sz="2000">
                <a:solidFill>
                  <a:schemeClr val="dk1"/>
                </a:solidFill>
              </a:rPr>
              <a:t> – Supports tasks like deathmatch, navigation, item collection, and shooting enemies, making it suitable for both basic and advanced RL experiments.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ge2_img1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2375" y="5387050"/>
            <a:ext cx="2328726" cy="107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2442175" y="6457800"/>
            <a:ext cx="847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 FPS environment for RL research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161013"/>
            <a:ext cx="8229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DTQN Architecture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578775" y="6054350"/>
            <a:ext cx="801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228600" y="695750"/>
            <a:ext cx="86868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Extension of DQN</a:t>
            </a:r>
            <a:r>
              <a:rPr lang="en-US" sz="2000">
                <a:solidFill>
                  <a:schemeClr val="dk1"/>
                </a:solidFill>
              </a:rPr>
              <a:t> – Deep Transformer Q-Network (DTQN) enhances traditional Deep Q-Networks by replacing LSTMs with Transformer decoders.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Handles Partial Observability</a:t>
            </a:r>
            <a:r>
              <a:rPr lang="en-US" sz="2000">
                <a:solidFill>
                  <a:schemeClr val="dk1"/>
                </a:solidFill>
              </a:rPr>
              <a:t> – Uses self-attention layers to capture long-term dependencies, making it effective in environments where the agent cannot fully observe the state.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Sequence Modeling</a:t>
            </a:r>
            <a:r>
              <a:rPr lang="en-US" sz="2000">
                <a:solidFill>
                  <a:schemeClr val="dk1"/>
                </a:solidFill>
              </a:rPr>
              <a:t> – Processes sequences of observations (frames) rather than single snapshots, allowing the agent to maintain memory over time.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Training Pipeline</a:t>
            </a:r>
            <a:r>
              <a:rPr lang="en-US" sz="2000">
                <a:solidFill>
                  <a:schemeClr val="dk1"/>
                </a:solidFill>
              </a:rPr>
              <a:t> – CNN encodes visual frames → Transformer layers process embeddings → Q-values predicted for each possible action using attention mechanisms.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a pixelated image of a man 's face with an angry expression (Provided by Tenor)" id="110" name="Google Shape;11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450" y="5707325"/>
            <a:ext cx="952948" cy="10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3f79d7b1_0_24"/>
          <p:cNvSpPr txBox="1"/>
          <p:nvPr>
            <p:ph type="title"/>
          </p:nvPr>
        </p:nvSpPr>
        <p:spPr>
          <a:xfrm>
            <a:off x="457200" y="161013"/>
            <a:ext cx="8229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DTQN Architecture</a:t>
            </a:r>
            <a:endParaRPr/>
          </a:p>
        </p:txBody>
      </p:sp>
      <p:sp>
        <p:nvSpPr>
          <p:cNvPr id="116" name="Google Shape;116;g37b3f79d7b1_0_24"/>
          <p:cNvSpPr txBox="1"/>
          <p:nvPr/>
        </p:nvSpPr>
        <p:spPr>
          <a:xfrm>
            <a:off x="1578775" y="6054350"/>
            <a:ext cx="801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7b3f79d7b1_0_24"/>
          <p:cNvSpPr txBox="1"/>
          <p:nvPr/>
        </p:nvSpPr>
        <p:spPr>
          <a:xfrm>
            <a:off x="228600" y="695750"/>
            <a:ext cx="8686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Trajectory Representation</a:t>
            </a:r>
            <a:r>
              <a:rPr lang="en-US" sz="2000">
                <a:solidFill>
                  <a:schemeClr val="dk1"/>
                </a:solidFill>
              </a:rPr>
              <a:t> – Each input sequence consists of return-to-go (𝑅), state (s), and action (a) tokens, representing past experiences.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Causal Transformer</a:t>
            </a:r>
            <a:r>
              <a:rPr lang="en-US" sz="2000">
                <a:solidFill>
                  <a:schemeClr val="dk1"/>
                </a:solidFill>
              </a:rPr>
              <a:t> – A transformer processes these sequences using self-attention, capturing dependencies across time steps.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Embedding &amp; Positional Encoding</a:t>
            </a:r>
            <a:r>
              <a:rPr lang="en-US" sz="2000">
                <a:solidFill>
                  <a:schemeClr val="dk1"/>
                </a:solidFill>
              </a:rPr>
              <a:t> – Tokens are embedded and enriched with positional encodings before entering the transformer.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Action Prediction</a:t>
            </a:r>
            <a:r>
              <a:rPr lang="en-US" sz="2000">
                <a:solidFill>
                  <a:schemeClr val="dk1"/>
                </a:solidFill>
              </a:rPr>
              <a:t> – The model predicts the next action (aₜ) based on past states, actions, and expected return, using a linear decoder.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File:Freedoom004 02.png - Wikimedia Commons" id="118" name="Google Shape;118;g37b3f79d7b1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575" y="4683500"/>
            <a:ext cx="2607826" cy="19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b3f79d7b1_0_4"/>
          <p:cNvSpPr txBox="1"/>
          <p:nvPr>
            <p:ph type="title"/>
          </p:nvPr>
        </p:nvSpPr>
        <p:spPr>
          <a:xfrm>
            <a:off x="457200" y="161013"/>
            <a:ext cx="8229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DTQN Architecture</a:t>
            </a:r>
            <a:endParaRPr/>
          </a:p>
        </p:txBody>
      </p:sp>
      <p:sp>
        <p:nvSpPr>
          <p:cNvPr id="124" name="Google Shape;124;g37b3f79d7b1_0_4"/>
          <p:cNvSpPr txBox="1"/>
          <p:nvPr/>
        </p:nvSpPr>
        <p:spPr>
          <a:xfrm>
            <a:off x="1578775" y="6054350"/>
            <a:ext cx="801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Transformer Q-Network with attention layers.</a:t>
            </a:r>
            <a:endParaRPr/>
          </a:p>
        </p:txBody>
      </p:sp>
      <p:pic>
        <p:nvPicPr>
          <p:cNvPr descr="page2_img2.png" id="125" name="Google Shape;125;g37b3f79d7b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00" y="445800"/>
            <a:ext cx="8116000" cy="57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457200" y="274619"/>
            <a:ext cx="82296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Decision Transformer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457200" y="514025"/>
            <a:ext cx="9144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Reformulates RL</a:t>
            </a:r>
            <a:r>
              <a:rPr lang="en-US" sz="2000">
                <a:solidFill>
                  <a:schemeClr val="dk1"/>
                </a:solidFill>
              </a:rPr>
              <a:t> – Treats reinforcement learning as a sequence modeling task rather than optimizing value functions.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Offline Training</a:t>
            </a:r>
            <a:r>
              <a:rPr lang="en-US" sz="2000">
                <a:solidFill>
                  <a:schemeClr val="dk1"/>
                </a:solidFill>
              </a:rPr>
              <a:t> – Learns policies from static datasets of past trajectories without interacting with the environment.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Return-to-Go (RTG) Conditioning</a:t>
            </a:r>
            <a:r>
              <a:rPr lang="en-US" sz="2000">
                <a:solidFill>
                  <a:schemeClr val="dk1"/>
                </a:solidFill>
              </a:rPr>
              <a:t> – Predicts next actions conditioned on desired future rewards.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Strengths &amp; Limitations</a:t>
            </a:r>
            <a:r>
              <a:rPr lang="en-US" sz="2000">
                <a:solidFill>
                  <a:schemeClr val="dk1"/>
                </a:solidFill>
              </a:rPr>
              <a:t> – Good for structured tasks (e.g., MuJoCo) but struggles in memory-intensive FPS games.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Freedoom002 03.png - Wikimedia Commons" id="132" name="Google Shape;1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5650" y="4662725"/>
            <a:ext cx="2634234" cy="197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3f79d7b1_0_41"/>
          <p:cNvSpPr txBox="1"/>
          <p:nvPr>
            <p:ph type="title"/>
          </p:nvPr>
        </p:nvSpPr>
        <p:spPr>
          <a:xfrm>
            <a:off x="457200" y="274619"/>
            <a:ext cx="82296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Decision Transformer</a:t>
            </a:r>
            <a:endParaRPr/>
          </a:p>
        </p:txBody>
      </p:sp>
      <p:sp>
        <p:nvSpPr>
          <p:cNvPr id="138" name="Google Shape;138;g37b3f79d7b1_0_41"/>
          <p:cNvSpPr txBox="1"/>
          <p:nvPr/>
        </p:nvSpPr>
        <p:spPr>
          <a:xfrm>
            <a:off x="269775" y="579500"/>
            <a:ext cx="88743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Observation Processing</a:t>
            </a:r>
            <a:r>
              <a:rPr lang="en-US" sz="2000">
                <a:solidFill>
                  <a:schemeClr val="dk1"/>
                </a:solidFill>
              </a:rPr>
              <a:t> – A sequence of past observations (frames) is embedded and combined with positional encodings to preserve temporal order.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Transformer Layers</a:t>
            </a:r>
            <a:r>
              <a:rPr lang="en-US" sz="2000">
                <a:solidFill>
                  <a:schemeClr val="dk1"/>
                </a:solidFill>
              </a:rPr>
              <a:t> – Multiple masked multi-head self-attention layers process the sequence, enabling the model to capture long-term dependencies.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Q-Value Estimation</a:t>
            </a:r>
            <a:r>
              <a:rPr lang="en-US" sz="2000">
                <a:solidFill>
                  <a:schemeClr val="dk1"/>
                </a:solidFill>
              </a:rPr>
              <a:t> – The transformer outputs action-value estimates (Q-values) through a linear layer, which are compared using the Bellman error for training.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Action Selection &amp; Learning</a:t>
            </a:r>
            <a:r>
              <a:rPr lang="en-US" sz="2000">
                <a:solidFill>
                  <a:schemeClr val="dk1"/>
                </a:solidFill>
              </a:rPr>
              <a:t> – The agent selects actions via argmax over Q-values, interacts with the environment, and updates based on reward-driven loss.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OM_20170406010514 | DOOM_20170406010514 | Anton Fenix | Flickr" id="139" name="Google Shape;139;g37b3f79d7b1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475" y="5419900"/>
            <a:ext cx="2243400" cy="126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b3f79d7b1_0_33"/>
          <p:cNvSpPr txBox="1"/>
          <p:nvPr>
            <p:ph type="title"/>
          </p:nvPr>
        </p:nvSpPr>
        <p:spPr>
          <a:xfrm>
            <a:off x="457200" y="274619"/>
            <a:ext cx="82296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Decision Transformer</a:t>
            </a:r>
            <a:endParaRPr/>
          </a:p>
        </p:txBody>
      </p:sp>
      <p:sp>
        <p:nvSpPr>
          <p:cNvPr id="145" name="Google Shape;145;g37b3f79d7b1_0_33"/>
          <p:cNvSpPr txBox="1"/>
          <p:nvPr/>
        </p:nvSpPr>
        <p:spPr>
          <a:xfrm>
            <a:off x="2442175" y="598780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 RL with sequence modeling.</a:t>
            </a:r>
            <a:endParaRPr/>
          </a:p>
        </p:txBody>
      </p:sp>
      <p:pic>
        <p:nvPicPr>
          <p:cNvPr descr="page2_img3.png" id="146" name="Google Shape;146;g37b3f79d7b1_0_33"/>
          <p:cNvPicPr preferRelativeResize="0"/>
          <p:nvPr/>
        </p:nvPicPr>
        <p:blipFill rotWithShape="1">
          <a:blip r:embed="rId3">
            <a:alphaModFix/>
          </a:blip>
          <a:srcRect b="-17921" l="-9667" r="-13016" t="-9272"/>
          <a:stretch/>
        </p:blipFill>
        <p:spPr>
          <a:xfrm>
            <a:off x="0" y="130625"/>
            <a:ext cx="10395401" cy="653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b3f79d7b1_0_63"/>
          <p:cNvSpPr txBox="1"/>
          <p:nvPr>
            <p:ph type="title"/>
          </p:nvPr>
        </p:nvSpPr>
        <p:spPr>
          <a:xfrm>
            <a:off x="457200" y="274619"/>
            <a:ext cx="82296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Online Reinforcement Learning (RL)</a:t>
            </a:r>
            <a:endParaRPr/>
          </a:p>
        </p:txBody>
      </p:sp>
      <p:sp>
        <p:nvSpPr>
          <p:cNvPr id="152" name="Google Shape;152;g37b3f79d7b1_0_63"/>
          <p:cNvSpPr txBox="1"/>
          <p:nvPr/>
        </p:nvSpPr>
        <p:spPr>
          <a:xfrm>
            <a:off x="457200" y="578075"/>
            <a:ext cx="8505000" cy="5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Continuous Interaction</a:t>
            </a:r>
            <a:r>
              <a:rPr lang="en-US" sz="2000">
                <a:solidFill>
                  <a:schemeClr val="dk1"/>
                </a:solidFill>
              </a:rPr>
              <a:t> – Agent directly interacts with the environment, receiving new states and rewards in real time.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Exploration &amp; Learning</a:t>
            </a:r>
            <a:r>
              <a:rPr lang="en-US" sz="2000">
                <a:solidFill>
                  <a:schemeClr val="dk1"/>
                </a:solidFill>
              </a:rPr>
              <a:t> – Learns optimal policies by trial-and-error through continuous feedback.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Adaptability</a:t>
            </a:r>
            <a:r>
              <a:rPr lang="en-US" sz="2000">
                <a:solidFill>
                  <a:schemeClr val="dk1"/>
                </a:solidFill>
              </a:rPr>
              <a:t> – Can adjust policies dynamically as the environment changes.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Challenge in FPS</a:t>
            </a:r>
            <a:r>
              <a:rPr lang="en-US" sz="2000">
                <a:solidFill>
                  <a:schemeClr val="dk1"/>
                </a:solidFill>
              </a:rPr>
              <a:t> – Requires strong memory and strategy; recurrent models (e.g., DRQN with LSTMs) often outperform transformers.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-up of the Sci-Fi First Person Shooter. 3D Game Walkthrough, FPS with Gun on a Spaceship, War Against Dangerous Flying Robots. Online Live Stream of Popular e-Sports Tournament Event Concept. (Provided by Getty Images)" id="153" name="Google Shape;153;g37b3f79d7b1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701" y="5052300"/>
            <a:ext cx="3021501" cy="16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>
            <p:ph type="title"/>
          </p:nvPr>
        </p:nvSpPr>
        <p:spPr>
          <a:xfrm>
            <a:off x="457200" y="99409"/>
            <a:ext cx="8229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Results - DT vs PPO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457200" y="576500"/>
            <a:ext cx="84909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Decision Transformer Limitations</a:t>
            </a:r>
            <a:r>
              <a:rPr lang="en-US" sz="2000">
                <a:solidFill>
                  <a:schemeClr val="dk1"/>
                </a:solidFill>
              </a:rPr>
              <a:t> – Trained on offline trajectories, DT showed unstable and suboptimal policy learning.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PPO Advantage</a:t>
            </a:r>
            <a:r>
              <a:rPr lang="en-US" sz="2000">
                <a:solidFill>
                  <a:schemeClr val="dk1"/>
                </a:solidFill>
              </a:rPr>
              <a:t> – Proximal Policy Optimization (PPO) achieved higher and more consistent rewards compared to DT.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Challenge in FPS Games</a:t>
            </a:r>
            <a:r>
              <a:rPr lang="en-US" sz="2000">
                <a:solidFill>
                  <a:schemeClr val="dk1"/>
                </a:solidFill>
              </a:rPr>
              <a:t> – DT struggled with memory-intensive tasks such as enemy engagement and strategy, exposing its weakness in complex FPS settings.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Graph Insight</a:t>
            </a:r>
            <a:r>
              <a:rPr lang="en-US" sz="2000">
                <a:solidFill>
                  <a:schemeClr val="dk1"/>
                </a:solidFill>
              </a:rPr>
              <a:t> – X-axis shows training steps, Y-axis shows episode returns; the DT curve fluctuates heavily, mostly staying negative, indicating poor convergence and inability to learn an effective policy.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-up of the Sci-Fi First Person Shooter. 3D Game Playthrough, FPS with Gun on a Spaceship, War Against Flying Robots Threat. Enjoyable Gaming Experience with Advanced Graphics and Mechanics. (Provided by Getty Images)" id="160" name="Google Shape;16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977" y="4884026"/>
            <a:ext cx="3152123" cy="17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b3f79d7b1_0_55"/>
          <p:cNvSpPr txBox="1"/>
          <p:nvPr>
            <p:ph type="title"/>
          </p:nvPr>
        </p:nvSpPr>
        <p:spPr>
          <a:xfrm>
            <a:off x="457200" y="99409"/>
            <a:ext cx="8229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Results - DT vs PPO</a:t>
            </a:r>
            <a:endParaRPr/>
          </a:p>
        </p:txBody>
      </p:sp>
      <p:sp>
        <p:nvSpPr>
          <p:cNvPr id="166" name="Google Shape;166;g37b3f79d7b1_0_55"/>
          <p:cNvSpPr txBox="1"/>
          <p:nvPr/>
        </p:nvSpPr>
        <p:spPr>
          <a:xfrm>
            <a:off x="2629650" y="6081525"/>
            <a:ext cx="45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episode rewards.</a:t>
            </a:r>
            <a:endParaRPr/>
          </a:p>
        </p:txBody>
      </p:sp>
      <p:pic>
        <p:nvPicPr>
          <p:cNvPr descr="page4_img1.jpeg" id="167" name="Google Shape;167;g37b3f79d7b1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825" y="462163"/>
            <a:ext cx="8632352" cy="556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627600" y="228591"/>
            <a:ext cx="8229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Results - DQN+DRQN vs DTQN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86600" y="700175"/>
            <a:ext cx="8686800" cy="5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Stable Performance</a:t>
            </a:r>
            <a:r>
              <a:rPr lang="en-US" sz="2000">
                <a:solidFill>
                  <a:schemeClr val="dk1"/>
                </a:solidFill>
              </a:rPr>
              <a:t> – PPO achieved consistently high episode returns, showing strong learning stability compared to DT.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Efficient Training</a:t>
            </a:r>
            <a:r>
              <a:rPr lang="en-US" sz="2000">
                <a:solidFill>
                  <a:schemeClr val="dk1"/>
                </a:solidFill>
              </a:rPr>
              <a:t> – The curve flattens quickly, meaning PPO converges to a good policy faster than DT.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Robust Policy</a:t>
            </a:r>
            <a:r>
              <a:rPr lang="en-US" sz="2000">
                <a:solidFill>
                  <a:schemeClr val="dk1"/>
                </a:solidFill>
              </a:rPr>
              <a:t> – Even with some fluctuations, PPO maintained positive rewards throughout most episodes.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Graph Explanation</a:t>
            </a:r>
            <a:r>
              <a:rPr lang="en-US" sz="2000">
                <a:solidFill>
                  <a:schemeClr val="dk1"/>
                </a:solidFill>
              </a:rPr>
              <a:t> –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X-axis:</a:t>
            </a:r>
            <a:r>
              <a:rPr lang="en-US" sz="2000">
                <a:solidFill>
                  <a:schemeClr val="dk1"/>
                </a:solidFill>
              </a:rPr>
              <a:t> Episode count (training progress).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Y-axis:</a:t>
            </a:r>
            <a:r>
              <a:rPr lang="en-US" sz="2000">
                <a:solidFill>
                  <a:schemeClr val="dk1"/>
                </a:solidFill>
              </a:rPr>
              <a:t> Episode return (cumulative reward per episode).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Shows PPO policies consistently above zero with minimal drops.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b3f79d7b1_0_72"/>
          <p:cNvSpPr txBox="1"/>
          <p:nvPr>
            <p:ph type="title"/>
          </p:nvPr>
        </p:nvSpPr>
        <p:spPr>
          <a:xfrm>
            <a:off x="627600" y="228591"/>
            <a:ext cx="8229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Results - DQN+DRQN vs DTQN</a:t>
            </a:r>
            <a:endParaRPr/>
          </a:p>
        </p:txBody>
      </p:sp>
      <p:sp>
        <p:nvSpPr>
          <p:cNvPr id="179" name="Google Shape;179;g37b3f79d7b1_0_72"/>
          <p:cNvSpPr txBox="1"/>
          <p:nvPr/>
        </p:nvSpPr>
        <p:spPr>
          <a:xfrm>
            <a:off x="1918250" y="6124100"/>
            <a:ext cx="868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Kill/Death ratio comparison.</a:t>
            </a:r>
            <a:endParaRPr/>
          </a:p>
        </p:txBody>
      </p:sp>
      <p:pic>
        <p:nvPicPr>
          <p:cNvPr descr="page4_img2.jpeg" id="180" name="Google Shape;180;g37b3f79d7b1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63" y="586425"/>
            <a:ext cx="8290676" cy="568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b3f79d7b1_0_318"/>
          <p:cNvSpPr txBox="1"/>
          <p:nvPr>
            <p:ph type="title"/>
          </p:nvPr>
        </p:nvSpPr>
        <p:spPr>
          <a:xfrm>
            <a:off x="457200" y="285748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is MADRL a promising approach for making intelligent games?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b3f79d7b1_0_197"/>
          <p:cNvSpPr txBox="1"/>
          <p:nvPr>
            <p:ph type="title"/>
          </p:nvPr>
        </p:nvSpPr>
        <p:spPr>
          <a:xfrm>
            <a:off x="457200" y="274640"/>
            <a:ext cx="8229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Multi-Agent Deep Reinforcement Learning (MADRL)</a:t>
            </a:r>
            <a:endParaRPr/>
          </a:p>
        </p:txBody>
      </p:sp>
      <p:sp>
        <p:nvSpPr>
          <p:cNvPr id="191" name="Google Shape;191;g37b3f79d7b1_0_197"/>
          <p:cNvSpPr txBox="1"/>
          <p:nvPr/>
        </p:nvSpPr>
        <p:spPr>
          <a:xfrm>
            <a:off x="457200" y="644550"/>
            <a:ext cx="8519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Definition</a:t>
            </a:r>
            <a:r>
              <a:rPr lang="en-US" sz="2000">
                <a:solidFill>
                  <a:schemeClr val="dk1"/>
                </a:solidFill>
              </a:rPr>
              <a:t> – MADRL extends reinforcement learning to environments with </a:t>
            </a:r>
            <a:r>
              <a:rPr b="1" lang="en-US" sz="2000">
                <a:solidFill>
                  <a:schemeClr val="dk1"/>
                </a:solidFill>
              </a:rPr>
              <a:t>multiple agents</a:t>
            </a:r>
            <a:r>
              <a:rPr lang="en-US" sz="2000">
                <a:solidFill>
                  <a:schemeClr val="dk1"/>
                </a:solidFill>
              </a:rPr>
              <a:t>, each learning and interacting simultaneously.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Coordination &amp; Competition</a:t>
            </a:r>
            <a:r>
              <a:rPr lang="en-US" sz="2000">
                <a:solidFill>
                  <a:schemeClr val="dk1"/>
                </a:solidFill>
              </a:rPr>
              <a:t> – Agents may cooperate, compete, or both, making policy learning more complex than single-agent RL.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Key Challenges</a:t>
            </a:r>
            <a:r>
              <a:rPr lang="en-US" sz="2000">
                <a:solidFill>
                  <a:schemeClr val="dk1"/>
                </a:solidFill>
              </a:rPr>
              <a:t> – Includes </a:t>
            </a:r>
            <a:r>
              <a:rPr b="1" lang="en-US" sz="2000">
                <a:solidFill>
                  <a:schemeClr val="dk1"/>
                </a:solidFill>
              </a:rPr>
              <a:t>partial observability, non-stationarity, scalability, and heterogenous agents</a:t>
            </a:r>
            <a:r>
              <a:rPr lang="en-US" sz="2000">
                <a:solidFill>
                  <a:schemeClr val="dk1"/>
                </a:solidFill>
              </a:rPr>
              <a:t> when evaluating team contributions.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Applications</a:t>
            </a:r>
            <a:r>
              <a:rPr lang="en-US" sz="2000">
                <a:solidFill>
                  <a:schemeClr val="dk1"/>
                </a:solidFill>
              </a:rPr>
              <a:t> – Used in </a:t>
            </a:r>
            <a:r>
              <a:rPr b="1" lang="en-US" sz="2000">
                <a:solidFill>
                  <a:schemeClr val="dk1"/>
                </a:solidFill>
              </a:rPr>
              <a:t>robotics, autonomous driving, strategy games, simulations, and large-scale AI systems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a man standing in front of a computer monitor that says ' x ' on the screen (Provided by Tenor)" id="192" name="Google Shape;192;g37b3f79d7b1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300" y="4693950"/>
            <a:ext cx="3281707" cy="20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b3f79d7b1_0_296"/>
          <p:cNvSpPr txBox="1"/>
          <p:nvPr>
            <p:ph type="title"/>
          </p:nvPr>
        </p:nvSpPr>
        <p:spPr>
          <a:xfrm>
            <a:off x="457200" y="274640"/>
            <a:ext cx="8229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MADRL</a:t>
            </a:r>
            <a:endParaRPr/>
          </a:p>
        </p:txBody>
      </p:sp>
      <p:sp>
        <p:nvSpPr>
          <p:cNvPr id="198" name="Google Shape;198;g37b3f79d7b1_0_296"/>
          <p:cNvSpPr txBox="1"/>
          <p:nvPr/>
        </p:nvSpPr>
        <p:spPr>
          <a:xfrm>
            <a:off x="457200" y="638950"/>
            <a:ext cx="8562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Core Challenges</a:t>
            </a:r>
            <a:r>
              <a:rPr lang="en-US" sz="2000">
                <a:solidFill>
                  <a:schemeClr val="dk1"/>
                </a:solidFill>
              </a:rPr>
              <a:t> – MADRL in games faces </a:t>
            </a:r>
            <a:r>
              <a:rPr b="1" lang="en-US" sz="2000">
                <a:solidFill>
                  <a:schemeClr val="dk1"/>
                </a:solidFill>
              </a:rPr>
              <a:t>heterogeneous agents, partial observability, non-stationarity, scalability, and credit assignment issues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Solution Paradigms</a:t>
            </a:r>
            <a:r>
              <a:rPr lang="en-US" sz="2000">
                <a:solidFill>
                  <a:schemeClr val="dk1"/>
                </a:solidFill>
              </a:rPr>
              <a:t> – Research addresses these through </a:t>
            </a:r>
            <a:r>
              <a:rPr b="1" lang="en-US" sz="2000">
                <a:solidFill>
                  <a:schemeClr val="dk1"/>
                </a:solidFill>
              </a:rPr>
              <a:t>communication structures, training paradigms, and scalability-enabling methods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Benchmarks &amp; Applications</a:t>
            </a:r>
            <a:r>
              <a:rPr lang="en-US" sz="2000">
                <a:solidFill>
                  <a:schemeClr val="dk1"/>
                </a:solidFill>
              </a:rPr>
              <a:t> – Benchmarks like </a:t>
            </a:r>
            <a:r>
              <a:rPr b="1" lang="en-US" sz="2000">
                <a:solidFill>
                  <a:schemeClr val="dk1"/>
                </a:solidFill>
              </a:rPr>
              <a:t>SMAC, MAgent, Google Football, and OpenSpiel</a:t>
            </a:r>
            <a:r>
              <a:rPr lang="en-US" sz="2000">
                <a:solidFill>
                  <a:schemeClr val="dk1"/>
                </a:solidFill>
              </a:rPr>
              <a:t> support research, while real-world apps include </a:t>
            </a:r>
            <a:r>
              <a:rPr b="1" lang="en-US" sz="2000">
                <a:solidFill>
                  <a:schemeClr val="dk1"/>
                </a:solidFill>
              </a:rPr>
              <a:t>DeepNash, Honor of Kings AI, and Gran Turismo AI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Research Outlook</a:t>
            </a:r>
            <a:r>
              <a:rPr lang="en-US" sz="2000">
                <a:solidFill>
                  <a:schemeClr val="dk1"/>
                </a:solidFill>
              </a:rPr>
              <a:t> – The field combines </a:t>
            </a:r>
            <a:r>
              <a:rPr b="1" lang="en-US" sz="2000">
                <a:solidFill>
                  <a:schemeClr val="dk1"/>
                </a:solidFill>
              </a:rPr>
              <a:t>theoretical foundations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b="1" lang="en-US" sz="2000">
                <a:solidFill>
                  <a:schemeClr val="dk1"/>
                </a:solidFill>
              </a:rPr>
              <a:t>algorithmic development (VDN, QMIX, MAPPO, etc.)</a:t>
            </a:r>
            <a:r>
              <a:rPr lang="en-US" sz="2000">
                <a:solidFill>
                  <a:schemeClr val="dk1"/>
                </a:solidFill>
              </a:rPr>
              <a:t>, and identifies </a:t>
            </a:r>
            <a:r>
              <a:rPr b="1" lang="en-US" sz="2000">
                <a:solidFill>
                  <a:schemeClr val="dk1"/>
                </a:solidFill>
              </a:rPr>
              <a:t>open issues</a:t>
            </a:r>
            <a:r>
              <a:rPr lang="en-US" sz="2000">
                <a:solidFill>
                  <a:schemeClr val="dk1"/>
                </a:solidFill>
              </a:rPr>
              <a:t> such as explainability and model-based approaches.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a white car is driving on a race track in a video game . (Provided by Tenor)" id="199" name="Google Shape;199;g37b3f79d7b1_0_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400" y="5441350"/>
            <a:ext cx="2305175" cy="1363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b3f79d7b1_0_307"/>
          <p:cNvSpPr txBox="1"/>
          <p:nvPr>
            <p:ph type="title"/>
          </p:nvPr>
        </p:nvSpPr>
        <p:spPr>
          <a:xfrm>
            <a:off x="457200" y="274640"/>
            <a:ext cx="8229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MADRL</a:t>
            </a:r>
            <a:endParaRPr/>
          </a:p>
        </p:txBody>
      </p:sp>
      <p:sp>
        <p:nvSpPr>
          <p:cNvPr id="205" name="Google Shape;205;g37b3f79d7b1_0_307"/>
          <p:cNvSpPr txBox="1"/>
          <p:nvPr/>
        </p:nvSpPr>
        <p:spPr>
          <a:xfrm>
            <a:off x="1522100" y="6270175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ge5_img1.png" id="206" name="Google Shape;206;g37b3f79d7b1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73025"/>
            <a:ext cx="8448250" cy="559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b3f79d7b1_0_323"/>
          <p:cNvSpPr txBox="1"/>
          <p:nvPr>
            <p:ph type="title"/>
          </p:nvPr>
        </p:nvSpPr>
        <p:spPr>
          <a:xfrm>
            <a:off x="457200" y="274639"/>
            <a:ext cx="8229600" cy="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Model Architecture</a:t>
            </a:r>
            <a:endParaRPr/>
          </a:p>
        </p:txBody>
      </p:sp>
      <p:sp>
        <p:nvSpPr>
          <p:cNvPr id="212" name="Google Shape;212;g37b3f79d7b1_0_323"/>
          <p:cNvSpPr txBox="1"/>
          <p:nvPr/>
        </p:nvSpPr>
        <p:spPr>
          <a:xfrm>
            <a:off x="457200" y="724125"/>
            <a:ext cx="8448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Game Challenges (C1–C4)</a:t>
            </a:r>
            <a:r>
              <a:rPr lang="en-US" sz="2000">
                <a:solidFill>
                  <a:schemeClr val="dk1"/>
                </a:solidFill>
              </a:rPr>
              <a:t> – Intelligent games face issues like </a:t>
            </a:r>
            <a:r>
              <a:rPr b="1" lang="en-US" sz="2000">
                <a:solidFill>
                  <a:schemeClr val="dk1"/>
                </a:solidFill>
              </a:rPr>
              <a:t>heterogeneous players, partial observability, non-stationarity, and scalability</a:t>
            </a:r>
            <a:r>
              <a:rPr lang="en-US" sz="2000">
                <a:solidFill>
                  <a:schemeClr val="dk1"/>
                </a:solidFill>
              </a:rPr>
              <a:t> that complicate AI design.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MADRl Solutions (S1–S4)</a:t>
            </a:r>
            <a:r>
              <a:rPr lang="en-US" sz="2000">
                <a:solidFill>
                  <a:schemeClr val="dk1"/>
                </a:solidFill>
              </a:rPr>
              <a:t> – To address these, MADRL introduces </a:t>
            </a:r>
            <a:r>
              <a:rPr b="1" lang="en-US" sz="2000">
                <a:solidFill>
                  <a:schemeClr val="dk1"/>
                </a:solidFill>
              </a:rPr>
              <a:t>communication structures, credit assignment methods, training paradigms, and scalability-enabling techniques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Mutual Benefit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MADRl enhances games</a:t>
            </a:r>
            <a:r>
              <a:rPr lang="en-US" sz="2000">
                <a:solidFill>
                  <a:schemeClr val="dk1"/>
                </a:solidFill>
              </a:rPr>
              <a:t> by guiding AI design, while </a:t>
            </a:r>
            <a:r>
              <a:rPr b="1" lang="en-US" sz="2000">
                <a:solidFill>
                  <a:schemeClr val="dk1"/>
                </a:solidFill>
              </a:rPr>
              <a:t>games inspire MADRL</a:t>
            </a:r>
            <a:r>
              <a:rPr lang="en-US" sz="2000">
                <a:solidFill>
                  <a:schemeClr val="dk1"/>
                </a:solidFill>
              </a:rPr>
              <a:t> by serving as realistic testbeds for improvement.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Bidirectional Relationship</a:t>
            </a:r>
            <a:r>
              <a:rPr lang="en-US" sz="2000">
                <a:solidFill>
                  <a:schemeClr val="dk1"/>
                </a:solidFill>
              </a:rPr>
              <a:t> – The framework highlights a </a:t>
            </a:r>
            <a:r>
              <a:rPr b="1" lang="en-US" sz="2000">
                <a:solidFill>
                  <a:schemeClr val="dk1"/>
                </a:solidFill>
              </a:rPr>
              <a:t>two-way interaction</a:t>
            </a:r>
            <a:r>
              <a:rPr lang="en-US" sz="2000">
                <a:solidFill>
                  <a:schemeClr val="dk1"/>
                </a:solidFill>
              </a:rPr>
              <a:t>: MADRL solves game AI challenges, and games, in turn, drive further MADRL research.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a video game is being played on a computer and the numbers 402 and 7 are visible on the dashboard (Provided by Tenor)" id="213" name="Google Shape;213;g37b3f79d7b1_0_3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7575" y="5453825"/>
            <a:ext cx="2147925" cy="13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b3f79d7b1_0_203"/>
          <p:cNvSpPr txBox="1"/>
          <p:nvPr>
            <p:ph type="title"/>
          </p:nvPr>
        </p:nvSpPr>
        <p:spPr>
          <a:xfrm>
            <a:off x="457200" y="274639"/>
            <a:ext cx="8229600" cy="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Model Architecture</a:t>
            </a:r>
            <a:endParaRPr/>
          </a:p>
        </p:txBody>
      </p:sp>
      <p:sp>
        <p:nvSpPr>
          <p:cNvPr id="219" name="Google Shape;219;g37b3f79d7b1_0_203"/>
          <p:cNvSpPr txBox="1"/>
          <p:nvPr/>
        </p:nvSpPr>
        <p:spPr>
          <a:xfrm>
            <a:off x="244225" y="6111150"/>
            <a:ext cx="880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diagrams showing proposed models.</a:t>
            </a:r>
            <a:endParaRPr/>
          </a:p>
        </p:txBody>
      </p:sp>
      <p:pic>
        <p:nvPicPr>
          <p:cNvPr descr="page10_img1.jpeg" id="220" name="Google Shape;220;g37b3f79d7b1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25" y="545688"/>
            <a:ext cx="8576050" cy="537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b3f79d7b1_0_209"/>
          <p:cNvSpPr txBox="1"/>
          <p:nvPr>
            <p:ph type="title"/>
          </p:nvPr>
        </p:nvSpPr>
        <p:spPr>
          <a:xfrm>
            <a:off x="144825" y="228600"/>
            <a:ext cx="8931000" cy="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Comm-MARL (Communication in Multi-Agent RL)</a:t>
            </a:r>
            <a:endParaRPr/>
          </a:p>
        </p:txBody>
      </p:sp>
      <p:sp>
        <p:nvSpPr>
          <p:cNvPr id="226" name="Google Shape;226;g37b3f79d7b1_0_209"/>
          <p:cNvSpPr txBox="1"/>
          <p:nvPr/>
        </p:nvSpPr>
        <p:spPr>
          <a:xfrm>
            <a:off x="144825" y="823525"/>
            <a:ext cx="87465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Communication Constraints</a:t>
            </a:r>
            <a:r>
              <a:rPr lang="en-US" sz="2000">
                <a:solidFill>
                  <a:schemeClr val="dk1"/>
                </a:solidFill>
              </a:rPr>
              <a:t> – Agents face challenges like </a:t>
            </a:r>
            <a:r>
              <a:rPr b="1" lang="en-US" sz="2000">
                <a:solidFill>
                  <a:schemeClr val="dk1"/>
                </a:solidFill>
              </a:rPr>
              <a:t>limited bandwidth, noisy channels, and shared mediums</a:t>
            </a:r>
            <a:r>
              <a:rPr lang="en-US" sz="2000">
                <a:solidFill>
                  <a:schemeClr val="dk1"/>
                </a:solidFill>
              </a:rPr>
              <a:t>, making reliable communication difficult.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Message Format</a:t>
            </a:r>
            <a:r>
              <a:rPr lang="en-US" sz="2000">
                <a:solidFill>
                  <a:schemeClr val="dk1"/>
                </a:solidFill>
              </a:rPr>
              <a:t> – Communication can be defined in terms of </a:t>
            </a:r>
            <a:r>
              <a:rPr b="1" lang="en-US" sz="2000">
                <a:solidFill>
                  <a:schemeClr val="dk1"/>
                </a:solidFill>
              </a:rPr>
              <a:t>what to communicate</a:t>
            </a:r>
            <a:r>
              <a:rPr lang="en-US" sz="2000">
                <a:solidFill>
                  <a:schemeClr val="dk1"/>
                </a:solidFill>
              </a:rPr>
              <a:t> (local observations or historical information) and </a:t>
            </a:r>
            <a:r>
              <a:rPr b="1" lang="en-US" sz="2000">
                <a:solidFill>
                  <a:schemeClr val="dk1"/>
                </a:solidFill>
              </a:rPr>
              <a:t>whom to communicate with</a:t>
            </a:r>
            <a:r>
              <a:rPr lang="en-US" sz="2000">
                <a:solidFill>
                  <a:schemeClr val="dk1"/>
                </a:solidFill>
              </a:rPr>
              <a:t> (all agents vs. selected agents).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Communication Strategies</a:t>
            </a:r>
            <a:r>
              <a:rPr lang="en-US" sz="2000">
                <a:solidFill>
                  <a:schemeClr val="dk1"/>
                </a:solidFill>
              </a:rPr>
              <a:t> – Methods include </a:t>
            </a:r>
            <a:r>
              <a:rPr b="1" lang="en-US" sz="2000">
                <a:solidFill>
                  <a:schemeClr val="dk1"/>
                </a:solidFill>
              </a:rPr>
              <a:t>broadcasting to all, centralized proxy-based communication, predefined structured messaging, or learnable communication protocols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Importance in MARL</a:t>
            </a:r>
            <a:r>
              <a:rPr lang="en-US" sz="2000">
                <a:solidFill>
                  <a:schemeClr val="dk1"/>
                </a:solidFill>
              </a:rPr>
              <a:t> – Effective communication enables </a:t>
            </a:r>
            <a:r>
              <a:rPr b="1" lang="en-US" sz="2000">
                <a:solidFill>
                  <a:schemeClr val="dk1"/>
                </a:solidFill>
              </a:rPr>
              <a:t>coordination, cooperation, and efficient teamwork</a:t>
            </a:r>
            <a:r>
              <a:rPr lang="en-US" sz="2000">
                <a:solidFill>
                  <a:schemeClr val="dk1"/>
                </a:solidFill>
              </a:rPr>
              <a:t> among agents, which is crucial in complex environments like intelligent games.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Flow chart drawing illustration (Provided by Getty Images)" id="227" name="Google Shape;227;g37b3f79d7b1_0_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8425" y="5483925"/>
            <a:ext cx="1362898" cy="115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b3f79d7b1_0_334"/>
          <p:cNvSpPr txBox="1"/>
          <p:nvPr>
            <p:ph type="title"/>
          </p:nvPr>
        </p:nvSpPr>
        <p:spPr>
          <a:xfrm>
            <a:off x="457200" y="274639"/>
            <a:ext cx="8229600" cy="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Comm-MARL (Communication in Multi-Agent RL)</a:t>
            </a:r>
            <a:endParaRPr/>
          </a:p>
        </p:txBody>
      </p:sp>
      <p:pic>
        <p:nvPicPr>
          <p:cNvPr descr="page13_img1.jpeg" id="233" name="Google Shape;233;g37b3f79d7b1_0_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0" y="548050"/>
            <a:ext cx="8817401" cy="61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b3f79d7b1_0_215"/>
          <p:cNvSpPr txBox="1"/>
          <p:nvPr>
            <p:ph type="title"/>
          </p:nvPr>
        </p:nvSpPr>
        <p:spPr>
          <a:xfrm>
            <a:off x="457200" y="274638"/>
            <a:ext cx="8229600" cy="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Training &amp; Execution Paradigms in MARL</a:t>
            </a:r>
            <a:endParaRPr/>
          </a:p>
        </p:txBody>
      </p:sp>
      <p:sp>
        <p:nvSpPr>
          <p:cNvPr id="239" name="Google Shape;239;g37b3f79d7b1_0_215"/>
          <p:cNvSpPr txBox="1"/>
          <p:nvPr/>
        </p:nvSpPr>
        <p:spPr>
          <a:xfrm>
            <a:off x="457200" y="1371600"/>
            <a:ext cx="502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7b3f79d7b1_0_215"/>
          <p:cNvSpPr txBox="1"/>
          <p:nvPr/>
        </p:nvSpPr>
        <p:spPr>
          <a:xfrm>
            <a:off x="528200" y="602025"/>
            <a:ext cx="8433900" cy="6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CTCE (Centralized Training, Centralized Execution)</a:t>
            </a:r>
            <a:r>
              <a:rPr lang="en-US" sz="2000">
                <a:solidFill>
                  <a:schemeClr val="dk1"/>
                </a:solidFill>
              </a:rPr>
              <a:t> – Both training and execution rely on a central controller, giving agents complete access to global states and actions.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DTDE (Decentralized Training, Decentralized Execution)</a:t>
            </a:r>
            <a:r>
              <a:rPr lang="en-US" sz="2000">
                <a:solidFill>
                  <a:schemeClr val="dk1"/>
                </a:solidFill>
              </a:rPr>
              <a:t> – Each agent learns and acts independently, without relying on shared information, suitable for fully distributed systems.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CTDE (Centralized Training, Decentralized Execution)</a:t>
            </a:r>
            <a:r>
              <a:rPr lang="en-US" sz="2000">
                <a:solidFill>
                  <a:schemeClr val="dk1"/>
                </a:solidFill>
              </a:rPr>
              <a:t> – A widely used paradigm where agents are trained with global information but execute policies independently using local observations.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2000">
                <a:solidFill>
                  <a:schemeClr val="dk1"/>
                </a:solidFill>
              </a:rPr>
              <a:t>Key Insight</a:t>
            </a:r>
            <a:r>
              <a:rPr lang="en-US" sz="2000">
                <a:solidFill>
                  <a:schemeClr val="dk1"/>
                </a:solidFill>
              </a:rPr>
              <a:t> – These paradigms balance </a:t>
            </a:r>
            <a:r>
              <a:rPr b="1" lang="en-US" sz="2000">
                <a:solidFill>
                  <a:schemeClr val="dk1"/>
                </a:solidFill>
              </a:rPr>
              <a:t>information sharing, scalability, and autonomy</a:t>
            </a:r>
            <a:r>
              <a:rPr lang="en-US" sz="2000">
                <a:solidFill>
                  <a:schemeClr val="dk1"/>
                </a:solidFill>
              </a:rPr>
              <a:t>; CTDE is often preferred for complex environments like games due to its balance of efficiency and realism.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b3f79d7b1_0_344"/>
          <p:cNvSpPr txBox="1"/>
          <p:nvPr>
            <p:ph type="title"/>
          </p:nvPr>
        </p:nvSpPr>
        <p:spPr>
          <a:xfrm>
            <a:off x="457200" y="274638"/>
            <a:ext cx="8229600" cy="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Training &amp; Execution Paradigms in MARL</a:t>
            </a:r>
            <a:endParaRPr/>
          </a:p>
        </p:txBody>
      </p:sp>
      <p:sp>
        <p:nvSpPr>
          <p:cNvPr id="246" name="Google Shape;246;g37b3f79d7b1_0_344"/>
          <p:cNvSpPr txBox="1"/>
          <p:nvPr/>
        </p:nvSpPr>
        <p:spPr>
          <a:xfrm>
            <a:off x="457200" y="1371600"/>
            <a:ext cx="502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ge16_img1.jpeg" id="247" name="Google Shape;247;g37b3f79d7b1_0_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25" y="630425"/>
            <a:ext cx="8817424" cy="610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b970e6258_0_110"/>
          <p:cNvSpPr txBox="1"/>
          <p:nvPr>
            <p:ph type="title"/>
          </p:nvPr>
        </p:nvSpPr>
        <p:spPr>
          <a:xfrm>
            <a:off x="315225" y="2404463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can AI enhance game development while balancing creativity, efficiency, and ethical responsibility?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b970e6258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258" name="Google Shape;258;g37b970e6258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Traditional NPC interactions are script-based, limiting flexibility.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AI-driven approaches (LLMs, deep learning) enable dynamic dialogues and adaptive behaviors.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 reduces developer workload while enhancing player immersion.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Need to study effectiveness, player satisfaction, and ethical risks of AI in games.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b970e6258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AI-driven NPC Interaction</a:t>
            </a:r>
            <a:endParaRPr/>
          </a:p>
        </p:txBody>
      </p:sp>
      <p:sp>
        <p:nvSpPr>
          <p:cNvPr id="264" name="Google Shape;264;g37b970e6258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Traditional NPCs use behavior trees/finite state machines: predictable but rigid.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Deep learning enables agents to adapt, collaborate, and compete more naturally.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LLMs allow NPCs to hold dynamic dialogues, e.g., SceneCraft framework.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Enhances immersion in RPGs, adventure games, and social simulations.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b970e6258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Content Generation</a:t>
            </a:r>
            <a:endParaRPr/>
          </a:p>
        </p:txBody>
      </p:sp>
      <p:sp>
        <p:nvSpPr>
          <p:cNvPr id="270" name="Google Shape;270;g37b970e6258_0_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LLMs like GPT-2 can generate novel and playable levels (e.g., Sokoban, MarioGPT).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GANs used for map layout and terrain design (Volz et al.).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Dynamic Difficulty Adjustment (DDA) balances challenge based on player behavior.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AI-generated levels maintain creativity, diversity, and playability.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b970e6258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Development Process Optimization</a:t>
            </a:r>
            <a:endParaRPr/>
          </a:p>
        </p:txBody>
      </p:sp>
      <p:sp>
        <p:nvSpPr>
          <p:cNvPr id="276" name="Google Shape;276;g37b970e6258_0_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 assists in automated script generation, testing, and optimization.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Cloud-based AI allows more scalable NPC behavior than local CPU-driven AI.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Speeds up prototyping and improves efficiency for developers.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Example: Dragon's Dogma 2 with AI-driven independent NPCs.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b970e6258_0_1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Feedback</a:t>
            </a:r>
            <a:endParaRPr/>
          </a:p>
        </p:txBody>
      </p:sp>
      <p:sp>
        <p:nvSpPr>
          <p:cNvPr id="282" name="Google Shape;282;g37b970e6258_0_1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72% of developers view AI positively for narrative and efficiency gains.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 tools save ~30% of designers' working time in prototyping.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Players enjoy immersive NPCs (e.g., Stardew Valley with GPT-NPC).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b970e6258_0_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</a:t>
            </a:r>
            <a:r>
              <a:rPr lang="en-US"/>
              <a:t>thical Responsibility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g37b970e6258_0_1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Boost Creativity &amp; Efficiency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Ensure Fair and Inclusive Content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Protect Player Privacy &amp; Well-Being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Human Oversight &amp; Accountability</a:t>
            </a:r>
            <a:endParaRPr/>
          </a:p>
        </p:txBody>
      </p:sp>
      <p:pic>
        <p:nvPicPr>
          <p:cNvPr descr="privacy (Provided by Getty Images)" id="289" name="Google Shape;289;g37b970e6258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774" y="5671000"/>
            <a:ext cx="1348173" cy="10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9b87ed889_0_111"/>
          <p:cNvSpPr txBox="1"/>
          <p:nvPr>
            <p:ph type="title"/>
          </p:nvPr>
        </p:nvSpPr>
        <p:spPr>
          <a:xfrm>
            <a:off x="354330" y="258919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Why is SimBa used in deep reinforcement learning for game environments?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714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9b87ed889_0_0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SimBa</a:t>
            </a:r>
            <a:endParaRPr/>
          </a:p>
        </p:txBody>
      </p:sp>
      <p:sp>
        <p:nvSpPr>
          <p:cNvPr id="300" name="Google Shape;300;g379b87ed889_0_0"/>
          <p:cNvSpPr txBox="1"/>
          <p:nvPr/>
        </p:nvSpPr>
        <p:spPr>
          <a:xfrm>
            <a:off x="457200" y="915825"/>
            <a:ext cx="85620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SimBa introduces a simplicity bias</a:t>
            </a:r>
            <a:r>
              <a:rPr lang="en-US" sz="2200">
                <a:solidFill>
                  <a:schemeClr val="dk1"/>
                </a:solidFill>
              </a:rPr>
              <a:t> to enable scaling up parameters in deep RL, addressing the risk of overfitting while improving generalization.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Architecture integrates three components</a:t>
            </a:r>
            <a:r>
              <a:rPr lang="en-US" sz="2200">
                <a:solidFill>
                  <a:schemeClr val="dk1"/>
                </a:solidFill>
              </a:rPr>
              <a:t>: observation normalization, residual feedforward blocks, and layer normalization for stable and efficient learning.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Enhances sample efficiency</a:t>
            </a:r>
            <a:r>
              <a:rPr lang="en-US" sz="2200">
                <a:solidFill>
                  <a:schemeClr val="dk1"/>
                </a:solidFill>
              </a:rPr>
              <a:t> across diverse RL algorithms, including off-policy, on-policy, and unsupervised methods.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Applied to Soft Actor-Critic (SAC)</a:t>
            </a:r>
            <a:r>
              <a:rPr lang="en-US" sz="2200">
                <a:solidFill>
                  <a:schemeClr val="dk1"/>
                </a:solidFill>
              </a:rPr>
              <a:t>, SimBa matches or surpasses state-of-the-art performance on benchmarks like DMC, MyoSuite, and HumanoidBench.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g379b87ed889_0_0" title="simba-myo-key-eas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9900" y="5750525"/>
            <a:ext cx="983950" cy="9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9b87ed889_0_128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SimBa Improves Performance Across RL Algorithms</a:t>
            </a:r>
            <a:endParaRPr/>
          </a:p>
        </p:txBody>
      </p:sp>
      <p:sp>
        <p:nvSpPr>
          <p:cNvPr id="307" name="Google Shape;307;g379b87ed889_0_128"/>
          <p:cNvSpPr txBox="1"/>
          <p:nvPr/>
        </p:nvSpPr>
        <p:spPr>
          <a:xfrm>
            <a:off x="457200" y="1143000"/>
            <a:ext cx="82296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Comparison Across Settings</a:t>
            </a:r>
            <a:r>
              <a:rPr lang="en-US" sz="2000">
                <a:solidFill>
                  <a:schemeClr val="dk1"/>
                </a:solidFill>
              </a:rPr>
              <a:t> – The figure shows results for </a:t>
            </a:r>
            <a:r>
              <a:rPr b="1" lang="en-US" sz="2000">
                <a:solidFill>
                  <a:schemeClr val="dk1"/>
                </a:solidFill>
              </a:rPr>
              <a:t>Off-Policy (MF &amp; MB), On-Policy, and Unsupervised RL</a:t>
            </a:r>
            <a:r>
              <a:rPr lang="en-US" sz="2000">
                <a:solidFill>
                  <a:schemeClr val="dk1"/>
                </a:solidFill>
              </a:rPr>
              <a:t> methods, comparing baseline algorithms with and without </a:t>
            </a:r>
            <a:r>
              <a:rPr b="1" lang="en-US" sz="2000">
                <a:solidFill>
                  <a:schemeClr val="dk1"/>
                </a:solidFill>
              </a:rPr>
              <a:t>SimBa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Performance Boost</a:t>
            </a:r>
            <a:r>
              <a:rPr lang="en-US" sz="2000">
                <a:solidFill>
                  <a:schemeClr val="dk1"/>
                </a:solidFill>
              </a:rPr>
              <a:t> – In all cases (</a:t>
            </a:r>
            <a:r>
              <a:rPr b="1" lang="en-US" sz="2000">
                <a:solidFill>
                  <a:schemeClr val="dk1"/>
                </a:solidFill>
              </a:rPr>
              <a:t>SAC, TD-MPC2, PPO, METRA</a:t>
            </a:r>
            <a:r>
              <a:rPr lang="en-US" sz="2000">
                <a:solidFill>
                  <a:schemeClr val="dk1"/>
                </a:solidFill>
              </a:rPr>
              <a:t>), adding </a:t>
            </a:r>
            <a:r>
              <a:rPr b="1" lang="en-US" sz="2000">
                <a:solidFill>
                  <a:schemeClr val="dk1"/>
                </a:solidFill>
              </a:rPr>
              <a:t>SimBa</a:t>
            </a:r>
            <a:r>
              <a:rPr lang="en-US" sz="2000">
                <a:solidFill>
                  <a:schemeClr val="dk1"/>
                </a:solidFill>
              </a:rPr>
              <a:t> consistently leads to </a:t>
            </a:r>
            <a:r>
              <a:rPr b="1" lang="en-US" sz="2000">
                <a:solidFill>
                  <a:schemeClr val="dk1"/>
                </a:solidFill>
              </a:rPr>
              <a:t>higher returns</a:t>
            </a:r>
            <a:r>
              <a:rPr lang="en-US" sz="2000">
                <a:solidFill>
                  <a:schemeClr val="dk1"/>
                </a:solidFill>
              </a:rPr>
              <a:t> across environment steps, demonstrating improved learning efficiency.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Sample Efficiency</a:t>
            </a:r>
            <a:r>
              <a:rPr lang="en-US" sz="2000">
                <a:solidFill>
                  <a:schemeClr val="dk1"/>
                </a:solidFill>
              </a:rPr>
              <a:t> – The curves with </a:t>
            </a:r>
            <a:r>
              <a:rPr b="1" lang="en-US" sz="2000">
                <a:solidFill>
                  <a:schemeClr val="dk1"/>
                </a:solidFill>
              </a:rPr>
              <a:t>SimBa</a:t>
            </a:r>
            <a:r>
              <a:rPr lang="en-US" sz="2000">
                <a:solidFill>
                  <a:schemeClr val="dk1"/>
                </a:solidFill>
              </a:rPr>
              <a:t> (orange) reach strong performance </a:t>
            </a:r>
            <a:r>
              <a:rPr b="1" lang="en-US" sz="2000">
                <a:solidFill>
                  <a:schemeClr val="dk1"/>
                </a:solidFill>
              </a:rPr>
              <a:t>faster</a:t>
            </a:r>
            <a:r>
              <a:rPr lang="en-US" sz="2000">
                <a:solidFill>
                  <a:schemeClr val="dk1"/>
                </a:solidFill>
              </a:rPr>
              <a:t> than baselines (grey), showing that SimBa makes RL training more </a:t>
            </a:r>
            <a:r>
              <a:rPr b="1" lang="en-US" sz="2000">
                <a:solidFill>
                  <a:schemeClr val="dk1"/>
                </a:solidFill>
              </a:rPr>
              <a:t>sample-efficient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Robust Generalization</a:t>
            </a:r>
            <a:r>
              <a:rPr lang="en-US" sz="2000">
                <a:solidFill>
                  <a:schemeClr val="dk1"/>
                </a:solidFill>
              </a:rPr>
              <a:t> – The consistent improvement across diverse RL algorithms and tasks (DMC, Craftax, Humanoid) highlights SimBa’s </a:t>
            </a:r>
            <a:r>
              <a:rPr b="1" lang="en-US" sz="2000">
                <a:solidFill>
                  <a:schemeClr val="dk1"/>
                </a:solidFill>
              </a:rPr>
              <a:t>broad applicability and effectiveness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g379b87ed889_0_128" title="simba-h1-po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8300" y="5926550"/>
            <a:ext cx="817850" cy="8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ge1_img1.png" id="313" name="Google Shape;313;g379b87ed889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00" y="133475"/>
            <a:ext cx="8189827" cy="61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79b87ed889_0_122"/>
          <p:cNvSpPr txBox="1"/>
          <p:nvPr/>
        </p:nvSpPr>
        <p:spPr>
          <a:xfrm>
            <a:off x="0" y="6457800"/>
            <a:ext cx="92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Performance of SimBa across Off-Policy, On-Policy, and Unsupervised RL methods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9b87ed889_0_6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Related Work</a:t>
            </a:r>
            <a:endParaRPr/>
          </a:p>
        </p:txBody>
      </p:sp>
      <p:sp>
        <p:nvSpPr>
          <p:cNvPr id="320" name="Google Shape;320;g379b87ed889_0_6"/>
          <p:cNvSpPr txBox="1"/>
          <p:nvPr/>
        </p:nvSpPr>
        <p:spPr>
          <a:xfrm>
            <a:off x="72400" y="586000"/>
            <a:ext cx="8686800" cy="5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SimBa builds on advances in CV and NLP</a:t>
            </a:r>
            <a:r>
              <a:rPr lang="en-US" sz="2000">
                <a:solidFill>
                  <a:schemeClr val="dk1"/>
                </a:solidFill>
              </a:rPr>
              <a:t>, where scaling network parameters with simplicity bias has led to strong generalization.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Incorporates proven techniques</a:t>
            </a:r>
            <a:r>
              <a:rPr lang="en-US" sz="2000">
                <a:solidFill>
                  <a:schemeClr val="dk1"/>
                </a:solidFill>
              </a:rPr>
              <a:t> like observation normalization, residual feedforward blocks, and layer normalization to stabilize training.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Extends prior insights</a:t>
            </a:r>
            <a:r>
              <a:rPr lang="en-US" sz="2000">
                <a:solidFill>
                  <a:schemeClr val="dk1"/>
                </a:solidFill>
              </a:rPr>
              <a:t> by applying simplicity bias principles directly to deep reinforcement learning architectures.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Demonstrates broad applicability</a:t>
            </a:r>
            <a:r>
              <a:rPr lang="en-US" sz="2000">
                <a:solidFill>
                  <a:schemeClr val="dk1"/>
                </a:solidFill>
              </a:rPr>
              <a:t>, improving performance across off-policy, on-policy, and unsupervised RL algorithms.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g379b87ed889_0_6" title="simba-dog-tro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9700" y="5301800"/>
            <a:ext cx="1890325" cy="14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9b87ed889_0_116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Compute Efficiency of SimBa Across Diverse RL Benchmarks</a:t>
            </a:r>
            <a:endParaRPr/>
          </a:p>
        </p:txBody>
      </p:sp>
      <p:sp>
        <p:nvSpPr>
          <p:cNvPr id="327" name="Google Shape;327;g379b87ed889_0_116"/>
          <p:cNvSpPr txBox="1"/>
          <p:nvPr/>
        </p:nvSpPr>
        <p:spPr>
          <a:xfrm>
            <a:off x="457200" y="915825"/>
            <a:ext cx="85761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Benchmarks</a:t>
            </a:r>
            <a:r>
              <a:rPr lang="en-US" sz="2000">
                <a:solidFill>
                  <a:schemeClr val="dk1"/>
                </a:solidFill>
              </a:rPr>
              <a:t> – The graph evaluates performance on </a:t>
            </a:r>
            <a:r>
              <a:rPr b="1" lang="en-US" sz="2000">
                <a:solidFill>
                  <a:schemeClr val="dk1"/>
                </a:solidFill>
              </a:rPr>
              <a:t>DMC E&amp;M, DMC Hard, MyoSuite, and </a:t>
            </a:r>
            <a:r>
              <a:rPr b="1" lang="en-US" sz="2000">
                <a:solidFill>
                  <a:schemeClr val="dk1"/>
                </a:solidFill>
              </a:rPr>
              <a:t>Humanoid Bench</a:t>
            </a:r>
            <a:r>
              <a:rPr lang="en-US" sz="2000">
                <a:solidFill>
                  <a:schemeClr val="dk1"/>
                </a:solidFill>
              </a:rPr>
              <a:t>, covering diverse RL tasks.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Comparison</a:t>
            </a:r>
            <a:r>
              <a:rPr lang="en-US" sz="2000">
                <a:solidFill>
                  <a:schemeClr val="dk1"/>
                </a:solidFill>
              </a:rPr>
              <a:t> – Shows returns achieved by </a:t>
            </a:r>
            <a:r>
              <a:rPr b="1" lang="en-US" sz="2000">
                <a:solidFill>
                  <a:schemeClr val="dk1"/>
                </a:solidFill>
              </a:rPr>
              <a:t>SAC + SimBa, BRO, TD-MPC2, TD7, </a:t>
            </a:r>
            <a:r>
              <a:rPr b="1" lang="en-US" sz="2000">
                <a:solidFill>
                  <a:schemeClr val="dk1"/>
                </a:solidFill>
              </a:rPr>
              <a:t>Dreamer V3</a:t>
            </a:r>
            <a:r>
              <a:rPr b="1" lang="en-US" sz="2000">
                <a:solidFill>
                  <a:schemeClr val="dk1"/>
                </a:solidFill>
              </a:rPr>
              <a:t>, and SAC</a:t>
            </a:r>
            <a:r>
              <a:rPr lang="en-US" sz="2000">
                <a:solidFill>
                  <a:schemeClr val="dk1"/>
                </a:solidFill>
              </a:rPr>
              <a:t> over compute time.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Efficiency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SAC + SimBa (yellow)</a:t>
            </a:r>
            <a:r>
              <a:rPr lang="en-US" sz="2000">
                <a:solidFill>
                  <a:schemeClr val="dk1"/>
                </a:solidFill>
              </a:rPr>
              <a:t> consistently achieves </a:t>
            </a:r>
            <a:r>
              <a:rPr b="1" lang="en-US" sz="2000">
                <a:solidFill>
                  <a:schemeClr val="dk1"/>
                </a:solidFill>
              </a:rPr>
              <a:t>higher rewards faster</a:t>
            </a:r>
            <a:r>
              <a:rPr lang="en-US" sz="2000">
                <a:solidFill>
                  <a:schemeClr val="dk1"/>
                </a:solidFill>
              </a:rPr>
              <a:t> than baselines, demonstrating strong compute efficiency.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Generalization</a:t>
            </a:r>
            <a:r>
              <a:rPr lang="en-US" sz="2000">
                <a:solidFill>
                  <a:schemeClr val="dk1"/>
                </a:solidFill>
              </a:rPr>
              <a:t> – The consistent advantage across multiple environments highlights SimBa’s </a:t>
            </a:r>
            <a:r>
              <a:rPr b="1" lang="en-US" sz="2000">
                <a:solidFill>
                  <a:schemeClr val="dk1"/>
                </a:solidFill>
              </a:rPr>
              <a:t>scalability and adaptability</a:t>
            </a:r>
            <a:r>
              <a:rPr lang="en-US" sz="2000">
                <a:solidFill>
                  <a:schemeClr val="dk1"/>
                </a:solidFill>
              </a:rPr>
              <a:t> in RL.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g379b87ed889_0_116" title="simba-walker-ru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4350" y="5046250"/>
            <a:ext cx="2268950" cy="17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ge1_img2.jpeg" id="333" name="Google Shape;333;g379b87ed889_0_133"/>
          <p:cNvPicPr preferRelativeResize="0"/>
          <p:nvPr/>
        </p:nvPicPr>
        <p:blipFill rotWithShape="1">
          <a:blip r:embed="rId3">
            <a:alphaModFix/>
          </a:blip>
          <a:srcRect b="-3863" l="0" r="-3863" t="0"/>
          <a:stretch/>
        </p:blipFill>
        <p:spPr>
          <a:xfrm>
            <a:off x="315225" y="105050"/>
            <a:ext cx="8348899" cy="6261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79b87ed889_0_133"/>
          <p:cNvSpPr txBox="1"/>
          <p:nvPr/>
        </p:nvSpPr>
        <p:spPr>
          <a:xfrm>
            <a:off x="0" y="62424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Compute Efficiency of SimBa Across Diverse RL Benchmarks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9b87ed889_0_12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Methodology</a:t>
            </a:r>
            <a:endParaRPr/>
          </a:p>
        </p:txBody>
      </p:sp>
      <p:sp>
        <p:nvSpPr>
          <p:cNvPr id="340" name="Google Shape;340;g379b87ed889_0_12"/>
          <p:cNvSpPr txBox="1"/>
          <p:nvPr/>
        </p:nvSpPr>
        <p:spPr>
          <a:xfrm>
            <a:off x="457200" y="1001025"/>
            <a:ext cx="85050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Integration with SAC</a:t>
            </a:r>
            <a:r>
              <a:rPr lang="en-US" sz="2000">
                <a:solidFill>
                  <a:schemeClr val="dk1"/>
                </a:solidFill>
              </a:rPr>
              <a:t> – SimBa is integrated into the </a:t>
            </a:r>
            <a:r>
              <a:rPr b="1" lang="en-US" sz="2000">
                <a:solidFill>
                  <a:schemeClr val="dk1"/>
                </a:solidFill>
              </a:rPr>
              <a:t>Soft Actor-Critic (SAC)</a:t>
            </a:r>
            <a:r>
              <a:rPr lang="en-US" sz="2000">
                <a:solidFill>
                  <a:schemeClr val="dk1"/>
                </a:solidFill>
              </a:rPr>
              <a:t> framework, enabling it to </a:t>
            </a:r>
            <a:r>
              <a:rPr b="1" lang="en-US" sz="2000">
                <a:solidFill>
                  <a:schemeClr val="dk1"/>
                </a:solidFill>
              </a:rPr>
              <a:t>match or surpass state-of-the-art performance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Scalable Architecture</a:t>
            </a:r>
            <a:r>
              <a:rPr lang="en-US" sz="2000">
                <a:solidFill>
                  <a:schemeClr val="dk1"/>
                </a:solidFill>
              </a:rPr>
              <a:t> – The methodology emphasizes </a:t>
            </a:r>
            <a:r>
              <a:rPr b="1" lang="en-US" sz="2000">
                <a:solidFill>
                  <a:schemeClr val="dk1"/>
                </a:solidFill>
              </a:rPr>
              <a:t>scaling up network parameters</a:t>
            </a:r>
            <a:r>
              <a:rPr lang="en-US" sz="2000">
                <a:solidFill>
                  <a:schemeClr val="dk1"/>
                </a:solidFill>
              </a:rPr>
              <a:t> while maintaining stability through SimBa’s architectural design.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Research Collaboration</a:t>
            </a:r>
            <a:r>
              <a:rPr lang="en-US" sz="2000">
                <a:solidFill>
                  <a:schemeClr val="dk1"/>
                </a:solidFill>
              </a:rPr>
              <a:t> – The work represents a </a:t>
            </a:r>
            <a:r>
              <a:rPr b="1" lang="en-US" sz="2000">
                <a:solidFill>
                  <a:schemeClr val="dk1"/>
                </a:solidFill>
              </a:rPr>
              <a:t>collaborative effort</a:t>
            </a:r>
            <a:r>
              <a:rPr lang="en-US" sz="2000">
                <a:solidFill>
                  <a:schemeClr val="dk1"/>
                </a:solidFill>
              </a:rPr>
              <a:t>, with contributions during an internship at </a:t>
            </a:r>
            <a:r>
              <a:rPr b="1" lang="en-US" sz="2000">
                <a:solidFill>
                  <a:schemeClr val="dk1"/>
                </a:solidFill>
              </a:rPr>
              <a:t>Sony AI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Academic Contribution</a:t>
            </a:r>
            <a:r>
              <a:rPr lang="en-US" sz="2000">
                <a:solidFill>
                  <a:schemeClr val="dk1"/>
                </a:solidFill>
              </a:rPr>
              <a:t> – The approach has been formally recognized and </a:t>
            </a:r>
            <a:r>
              <a:rPr b="1" lang="en-US" sz="2000">
                <a:solidFill>
                  <a:schemeClr val="dk1"/>
                </a:solidFill>
              </a:rPr>
              <a:t>published at ICLR 2025</a:t>
            </a:r>
            <a:r>
              <a:rPr lang="en-US" sz="2000">
                <a:solidFill>
                  <a:schemeClr val="dk1"/>
                </a:solidFill>
              </a:rPr>
              <a:t>, validating its significance in the RL community.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g379b87ed889_0_12" title="simba-fish-swi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800" y="5174025"/>
            <a:ext cx="2093825" cy="15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9b87ed889_0_18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Experiments</a:t>
            </a:r>
            <a:endParaRPr/>
          </a:p>
        </p:txBody>
      </p:sp>
      <p:sp>
        <p:nvSpPr>
          <p:cNvPr id="347" name="Google Shape;347;g379b87ed889_0_18"/>
          <p:cNvSpPr txBox="1"/>
          <p:nvPr/>
        </p:nvSpPr>
        <p:spPr>
          <a:xfrm>
            <a:off x="457200" y="915825"/>
            <a:ext cx="8462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Benchmark Selection</a:t>
            </a:r>
            <a:r>
              <a:rPr lang="en-US" sz="2000">
                <a:solidFill>
                  <a:schemeClr val="dk1"/>
                </a:solidFill>
              </a:rPr>
              <a:t> – Experiments were conducted on </a:t>
            </a:r>
            <a:r>
              <a:rPr b="1" lang="en-US" sz="2000">
                <a:solidFill>
                  <a:schemeClr val="dk1"/>
                </a:solidFill>
              </a:rPr>
              <a:t>DMC-Hard environments</a:t>
            </a:r>
            <a:r>
              <a:rPr lang="en-US" sz="2000">
                <a:solidFill>
                  <a:schemeClr val="dk1"/>
                </a:solidFill>
              </a:rPr>
              <a:t> involving Humanoid and Dog tasks.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Base Algorithm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Soft Actor-Critic (SAC)</a:t>
            </a:r>
            <a:r>
              <a:rPr lang="en-US" sz="2000">
                <a:solidFill>
                  <a:schemeClr val="dk1"/>
                </a:solidFill>
              </a:rPr>
              <a:t> was used as the primary reinforcement learning algorithm for evaluation.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Measuring Simplicity Bias</a:t>
            </a:r>
            <a:r>
              <a:rPr lang="en-US" sz="2000">
                <a:solidFill>
                  <a:schemeClr val="dk1"/>
                </a:solidFill>
              </a:rPr>
              <a:t> – To quantify the effect of SimBa, </a:t>
            </a:r>
            <a:r>
              <a:rPr b="1" lang="en-US" sz="2000">
                <a:solidFill>
                  <a:schemeClr val="dk1"/>
                </a:solidFill>
              </a:rPr>
              <a:t>Fourier analysis</a:t>
            </a:r>
            <a:r>
              <a:rPr lang="en-US" sz="2000">
                <a:solidFill>
                  <a:schemeClr val="dk1"/>
                </a:solidFill>
              </a:rPr>
              <a:t> was applied as outlined in the methodology.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Evaluation Metric</a:t>
            </a:r>
            <a:r>
              <a:rPr lang="en-US" sz="2000">
                <a:solidFill>
                  <a:schemeClr val="dk1"/>
                </a:solidFill>
              </a:rPr>
              <a:t> – A </a:t>
            </a:r>
            <a:r>
              <a:rPr b="1" lang="en-US" sz="2000">
                <a:solidFill>
                  <a:schemeClr val="dk1"/>
                </a:solidFill>
              </a:rPr>
              <a:t>simplicity bias score</a:t>
            </a:r>
            <a:r>
              <a:rPr lang="en-US" sz="2000">
                <a:solidFill>
                  <a:schemeClr val="dk1"/>
                </a:solidFill>
              </a:rPr>
              <a:t> was computed for each network by averaging results over </a:t>
            </a:r>
            <a:r>
              <a:rPr b="1" lang="en-US" sz="2000">
                <a:solidFill>
                  <a:schemeClr val="dk1"/>
                </a:solidFill>
              </a:rPr>
              <a:t>100 random initializations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g379b87ed889_0_18" title="simba-quadruped-wal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1675" y="4677075"/>
            <a:ext cx="2365500" cy="20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9b87ed889_0_1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800"/>
              <a:t>Scaling Performance of SimBa vs MLP on DMC-Humanoid with SAC</a:t>
            </a:r>
            <a:endParaRPr/>
          </a:p>
        </p:txBody>
      </p:sp>
      <p:sp>
        <p:nvSpPr>
          <p:cNvPr id="354" name="Google Shape;354;g379b87ed889_0_145"/>
          <p:cNvSpPr txBox="1"/>
          <p:nvPr/>
        </p:nvSpPr>
        <p:spPr>
          <a:xfrm>
            <a:off x="457200" y="1371600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79b87ed889_0_145"/>
          <p:cNvSpPr txBox="1"/>
          <p:nvPr/>
        </p:nvSpPr>
        <p:spPr>
          <a:xfrm>
            <a:off x="457200" y="1371600"/>
            <a:ext cx="8686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Setup</a:t>
            </a:r>
            <a:r>
              <a:rPr lang="en-US" sz="2000">
                <a:solidFill>
                  <a:schemeClr val="dk1"/>
                </a:solidFill>
              </a:rPr>
              <a:t> – The graph compares </a:t>
            </a:r>
            <a:r>
              <a:rPr b="1" lang="en-US" sz="2000">
                <a:solidFill>
                  <a:schemeClr val="dk1"/>
                </a:solidFill>
              </a:rPr>
              <a:t>SimBa</a:t>
            </a:r>
            <a:r>
              <a:rPr lang="en-US" sz="2000">
                <a:solidFill>
                  <a:schemeClr val="dk1"/>
                </a:solidFill>
              </a:rPr>
              <a:t> and a baseline </a:t>
            </a:r>
            <a:r>
              <a:rPr b="1" lang="en-US" sz="2000">
                <a:solidFill>
                  <a:schemeClr val="dk1"/>
                </a:solidFill>
              </a:rPr>
              <a:t>MLP architecture</a:t>
            </a:r>
            <a:r>
              <a:rPr lang="en-US" sz="2000">
                <a:solidFill>
                  <a:schemeClr val="dk1"/>
                </a:solidFill>
              </a:rPr>
              <a:t>, both integrated with </a:t>
            </a:r>
            <a:r>
              <a:rPr b="1" lang="en-US" sz="2000">
                <a:solidFill>
                  <a:schemeClr val="dk1"/>
                </a:solidFill>
              </a:rPr>
              <a:t>Soft Actor-Critic (SAC)</a:t>
            </a:r>
            <a:r>
              <a:rPr lang="en-US" sz="2000">
                <a:solidFill>
                  <a:schemeClr val="dk1"/>
                </a:solidFill>
              </a:rPr>
              <a:t> on the </a:t>
            </a:r>
            <a:r>
              <a:rPr b="1" lang="en-US" sz="2000">
                <a:solidFill>
                  <a:schemeClr val="dk1"/>
                </a:solidFill>
              </a:rPr>
              <a:t>DMC-Humanoid</a:t>
            </a:r>
            <a:r>
              <a:rPr lang="en-US" sz="2000">
                <a:solidFill>
                  <a:schemeClr val="dk1"/>
                </a:solidFill>
              </a:rPr>
              <a:t> benchmark.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X-axis (Params M)</a:t>
            </a:r>
            <a:r>
              <a:rPr lang="en-US" sz="2000">
                <a:solidFill>
                  <a:schemeClr val="dk1"/>
                </a:solidFill>
              </a:rPr>
              <a:t> – Represents the </a:t>
            </a:r>
            <a:r>
              <a:rPr b="1" lang="en-US" sz="2000">
                <a:solidFill>
                  <a:schemeClr val="dk1"/>
                </a:solidFill>
              </a:rPr>
              <a:t>number of network parameters</a:t>
            </a:r>
            <a:r>
              <a:rPr lang="en-US" sz="2000">
                <a:solidFill>
                  <a:schemeClr val="dk1"/>
                </a:solidFill>
              </a:rPr>
              <a:t> (0.1M → 10M), testing scalability.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Y-axis (Average Return ↑)</a:t>
            </a:r>
            <a:r>
              <a:rPr lang="en-US" sz="2000">
                <a:solidFill>
                  <a:schemeClr val="dk1"/>
                </a:solidFill>
              </a:rPr>
              <a:t> – Measures the </a:t>
            </a:r>
            <a:r>
              <a:rPr b="1" lang="en-US" sz="2000">
                <a:solidFill>
                  <a:schemeClr val="dk1"/>
                </a:solidFill>
              </a:rPr>
              <a:t>average performance (reward returns)</a:t>
            </a:r>
            <a:r>
              <a:rPr lang="en-US" sz="2000">
                <a:solidFill>
                  <a:schemeClr val="dk1"/>
                </a:solidFill>
              </a:rPr>
              <a:t> achieved by the models.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Key Insight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SimBa scales efficiently</a:t>
            </a:r>
            <a:r>
              <a:rPr lang="en-US" sz="2000">
                <a:solidFill>
                  <a:schemeClr val="dk1"/>
                </a:solidFill>
              </a:rPr>
              <a:t>, maintaining higher returns as parameters increase, while </a:t>
            </a:r>
            <a:r>
              <a:rPr b="1" lang="en-US" sz="2000">
                <a:solidFill>
                  <a:schemeClr val="dk1"/>
                </a:solidFill>
              </a:rPr>
              <a:t>MLP performance degrades</a:t>
            </a:r>
            <a:r>
              <a:rPr lang="en-US" sz="2000">
                <a:solidFill>
                  <a:schemeClr val="dk1"/>
                </a:solidFill>
              </a:rPr>
              <a:t> with larger models.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56" name="Google Shape;356;g379b87ed889_0_145" title="simba-h1-stai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075" y="5230825"/>
            <a:ext cx="2439325" cy="15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ge2_img1.png" id="361" name="Google Shape;361;g379b87ed889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25" y="133475"/>
            <a:ext cx="8284500" cy="62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79b87ed889_0_139"/>
          <p:cNvSpPr txBox="1"/>
          <p:nvPr/>
        </p:nvSpPr>
        <p:spPr>
          <a:xfrm>
            <a:off x="0" y="6346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Scaling Performance of SimBa vs MLP on DMC-Humanoid with SAC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9b87ed889_0_157"/>
          <p:cNvSpPr txBox="1"/>
          <p:nvPr>
            <p:ph type="title"/>
          </p:nvPr>
        </p:nvSpPr>
        <p:spPr>
          <a:xfrm>
            <a:off x="556575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Simplicity Score Comparison – SimBa vs MLP</a:t>
            </a:r>
            <a:endParaRPr/>
          </a:p>
        </p:txBody>
      </p:sp>
      <p:sp>
        <p:nvSpPr>
          <p:cNvPr id="368" name="Google Shape;368;g379b87ed889_0_157"/>
          <p:cNvSpPr txBox="1"/>
          <p:nvPr/>
        </p:nvSpPr>
        <p:spPr>
          <a:xfrm>
            <a:off x="457200" y="1371600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79b87ed889_0_157"/>
          <p:cNvSpPr txBox="1"/>
          <p:nvPr/>
        </p:nvSpPr>
        <p:spPr>
          <a:xfrm>
            <a:off x="553800" y="1057825"/>
            <a:ext cx="8036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X-axis (Architecture)</a:t>
            </a:r>
            <a:r>
              <a:rPr lang="en-US" sz="2000">
                <a:solidFill>
                  <a:schemeClr val="dk1"/>
                </a:solidFill>
              </a:rPr>
              <a:t> – Compares two neural network architectures: </a:t>
            </a:r>
            <a:r>
              <a:rPr b="1" lang="en-US" sz="2000">
                <a:solidFill>
                  <a:schemeClr val="dk1"/>
                </a:solidFill>
              </a:rPr>
              <a:t>SimBa</a:t>
            </a:r>
            <a:r>
              <a:rPr lang="en-US" sz="2000">
                <a:solidFill>
                  <a:schemeClr val="dk1"/>
                </a:solidFill>
              </a:rPr>
              <a:t> and </a:t>
            </a:r>
            <a:r>
              <a:rPr b="1" lang="en-US" sz="2000">
                <a:solidFill>
                  <a:schemeClr val="dk1"/>
                </a:solidFill>
              </a:rPr>
              <a:t>MLP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Y-axis (Simplicity Score ↑)</a:t>
            </a:r>
            <a:r>
              <a:rPr lang="en-US" sz="2000">
                <a:solidFill>
                  <a:schemeClr val="dk1"/>
                </a:solidFill>
              </a:rPr>
              <a:t> – Measures the </a:t>
            </a:r>
            <a:r>
              <a:rPr b="1" lang="en-US" sz="2000">
                <a:solidFill>
                  <a:schemeClr val="dk1"/>
                </a:solidFill>
              </a:rPr>
              <a:t>tendency of the network to favor simpler, generalizable solutions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Result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SimBa consistently achieves a higher simplicity score (~6.4)</a:t>
            </a:r>
            <a:r>
              <a:rPr lang="en-US" sz="2000">
                <a:solidFill>
                  <a:schemeClr val="dk1"/>
                </a:solidFill>
              </a:rPr>
              <a:t> compared to MLP (~5.8).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Key Insight</a:t>
            </a:r>
            <a:r>
              <a:rPr lang="en-US" sz="2000">
                <a:solidFill>
                  <a:schemeClr val="dk1"/>
                </a:solidFill>
              </a:rPr>
              <a:t> – This demonstrates that </a:t>
            </a:r>
            <a:r>
              <a:rPr b="1" lang="en-US" sz="2000">
                <a:solidFill>
                  <a:schemeClr val="dk1"/>
                </a:solidFill>
              </a:rPr>
              <a:t>SimBa integrates simplicity bias more effectively</a:t>
            </a:r>
            <a:r>
              <a:rPr lang="en-US" sz="2000">
                <a:solidFill>
                  <a:schemeClr val="dk1"/>
                </a:solidFill>
              </a:rPr>
              <a:t>, enabling better scaling and generalization in reinforcement learning tasks.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70" name="Google Shape;370;g379b87ed889_0_157" title="simba-hopper-ho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075" y="4936825"/>
            <a:ext cx="2418325" cy="16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ge2_img2.png" id="375" name="Google Shape;375;g379b87ed889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675" y="282550"/>
            <a:ext cx="8104650" cy="60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79b87ed889_0_151"/>
          <p:cNvSpPr txBox="1"/>
          <p:nvPr/>
        </p:nvSpPr>
        <p:spPr>
          <a:xfrm>
            <a:off x="56800" y="63610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Simplicity Score Comparison – SimBa vs MLP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7bc10411d9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030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7bc10411d9_2_20"/>
          <p:cNvSpPr txBox="1"/>
          <p:nvPr/>
        </p:nvSpPr>
        <p:spPr>
          <a:xfrm>
            <a:off x="152400" y="3308325"/>
            <a:ext cx="82419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Core Components</a:t>
            </a:r>
            <a:r>
              <a:rPr lang="en-US" sz="1500">
                <a:solidFill>
                  <a:schemeClr val="dk1"/>
                </a:solidFill>
              </a:rPr>
              <a:t> – SimBa integrates </a:t>
            </a:r>
            <a:r>
              <a:rPr b="1" lang="en-US" sz="1500">
                <a:solidFill>
                  <a:schemeClr val="dk1"/>
                </a:solidFill>
              </a:rPr>
              <a:t>RSNorm</a:t>
            </a:r>
            <a:r>
              <a:rPr lang="en-US" sz="1500">
                <a:solidFill>
                  <a:schemeClr val="dk1"/>
                </a:solidFill>
              </a:rPr>
              <a:t>, </a:t>
            </a:r>
            <a:r>
              <a:rPr b="1" lang="en-US" sz="1500">
                <a:solidFill>
                  <a:schemeClr val="dk1"/>
                </a:solidFill>
              </a:rPr>
              <a:t>Residual Feedforward Blocks</a:t>
            </a:r>
            <a:r>
              <a:rPr lang="en-US" sz="1500">
                <a:solidFill>
                  <a:schemeClr val="dk1"/>
                </a:solidFill>
              </a:rPr>
              <a:t>, and </a:t>
            </a:r>
            <a:r>
              <a:rPr b="1" lang="en-US" sz="1500">
                <a:solidFill>
                  <a:schemeClr val="dk1"/>
                </a:solidFill>
              </a:rPr>
              <a:t>Layer Normalization</a:t>
            </a:r>
            <a:r>
              <a:rPr lang="en-US" sz="1500">
                <a:solidFill>
                  <a:schemeClr val="dk1"/>
                </a:solidFill>
              </a:rPr>
              <a:t> to stabilize training.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Residual Pathway</a:t>
            </a:r>
            <a:r>
              <a:rPr lang="en-US" sz="1500">
                <a:solidFill>
                  <a:schemeClr val="dk1"/>
                </a:solidFill>
              </a:rPr>
              <a:t> – The shortcut connection (+) ensures </a:t>
            </a:r>
            <a:r>
              <a:rPr b="1" lang="en-US" sz="1500">
                <a:solidFill>
                  <a:schemeClr val="dk1"/>
                </a:solidFill>
              </a:rPr>
              <a:t>direct information flow</a:t>
            </a:r>
            <a:r>
              <a:rPr lang="en-US" sz="1500">
                <a:solidFill>
                  <a:schemeClr val="dk1"/>
                </a:solidFill>
              </a:rPr>
              <a:t>, reducing vanishing gradients and aiding scalability.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Complexity Control</a:t>
            </a:r>
            <a:r>
              <a:rPr lang="en-US" sz="1500">
                <a:solidFill>
                  <a:schemeClr val="dk1"/>
                </a:solidFill>
              </a:rPr>
              <a:t> – Normalization layers (RSNorm &amp; LayerNorm) </a:t>
            </a:r>
            <a:r>
              <a:rPr b="1" lang="en-US" sz="1500">
                <a:solidFill>
                  <a:schemeClr val="dk1"/>
                </a:solidFill>
              </a:rPr>
              <a:t>lower functional complexity</a:t>
            </a:r>
            <a:r>
              <a:rPr lang="en-US" sz="1500">
                <a:solidFill>
                  <a:schemeClr val="dk1"/>
                </a:solidFill>
              </a:rPr>
              <a:t>, guiding the model toward simpler solutions.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Generalization Power</a:t>
            </a:r>
            <a:r>
              <a:rPr lang="en-US" sz="1500">
                <a:solidFill>
                  <a:schemeClr val="dk1"/>
                </a:solidFill>
              </a:rPr>
              <a:t> – This design allows SimBa to </a:t>
            </a:r>
            <a:r>
              <a:rPr b="1" lang="en-US" sz="1500">
                <a:solidFill>
                  <a:schemeClr val="dk1"/>
                </a:solidFill>
              </a:rPr>
              <a:t>scale up parameters efficiently</a:t>
            </a:r>
            <a:r>
              <a:rPr lang="en-US" sz="1500">
                <a:solidFill>
                  <a:schemeClr val="dk1"/>
                </a:solidFill>
              </a:rPr>
              <a:t>, outperforming standard architectures in RL tasks.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9b87ed889_0_30"/>
          <p:cNvSpPr txBox="1"/>
          <p:nvPr>
            <p:ph type="title"/>
          </p:nvPr>
        </p:nvSpPr>
        <p:spPr>
          <a:xfrm>
            <a:off x="457200" y="104275"/>
            <a:ext cx="793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Impact of RSNorm on Fourier Complexity and Average Return</a:t>
            </a:r>
            <a:endParaRPr/>
          </a:p>
        </p:txBody>
      </p:sp>
      <p:sp>
        <p:nvSpPr>
          <p:cNvPr id="388" name="Google Shape;388;g379b87ed889_0_30"/>
          <p:cNvSpPr txBox="1"/>
          <p:nvPr/>
        </p:nvSpPr>
        <p:spPr>
          <a:xfrm>
            <a:off x="603450" y="1091075"/>
            <a:ext cx="79371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Comparison Setup</a:t>
            </a:r>
            <a:r>
              <a:rPr lang="en-US" sz="2000">
                <a:solidFill>
                  <a:schemeClr val="dk1"/>
                </a:solidFill>
              </a:rPr>
              <a:t> – The graphs compare </a:t>
            </a:r>
            <a:r>
              <a:rPr b="1" lang="en-US" sz="2000">
                <a:solidFill>
                  <a:schemeClr val="dk1"/>
                </a:solidFill>
              </a:rPr>
              <a:t>SimBa, BroNet, SpectralNet, and MLP</a:t>
            </a:r>
            <a:r>
              <a:rPr lang="en-US" sz="2000">
                <a:solidFill>
                  <a:schemeClr val="dk1"/>
                </a:solidFill>
              </a:rPr>
              <a:t> across different </a:t>
            </a:r>
            <a:r>
              <a:rPr b="1" lang="en-US" sz="2000">
                <a:solidFill>
                  <a:schemeClr val="dk1"/>
                </a:solidFill>
              </a:rPr>
              <a:t>network widths</a:t>
            </a:r>
            <a:r>
              <a:rPr lang="en-US" sz="2000">
                <a:solidFill>
                  <a:schemeClr val="dk1"/>
                </a:solidFill>
              </a:rPr>
              <a:t> (64 → 1024), both </a:t>
            </a:r>
            <a:r>
              <a:rPr b="1" lang="en-US" sz="2000">
                <a:solidFill>
                  <a:schemeClr val="dk1"/>
                </a:solidFill>
              </a:rPr>
              <a:t>with and without RSNorm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Fourier Complexity</a:t>
            </a:r>
            <a:r>
              <a:rPr lang="en-US" sz="2000">
                <a:solidFill>
                  <a:schemeClr val="dk1"/>
                </a:solidFill>
              </a:rPr>
              <a:t> – SimBa maintains </a:t>
            </a:r>
            <a:r>
              <a:rPr b="1" lang="en-US" sz="2000">
                <a:solidFill>
                  <a:schemeClr val="dk1"/>
                </a:solidFill>
              </a:rPr>
              <a:t>lower Fourier complexity</a:t>
            </a:r>
            <a:r>
              <a:rPr lang="en-US" sz="2000">
                <a:solidFill>
                  <a:schemeClr val="dk1"/>
                </a:solidFill>
              </a:rPr>
              <a:t> (simpler representations) compared to others, especially when RSNorm is applied.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Average Return</a:t>
            </a:r>
            <a:r>
              <a:rPr lang="en-US" sz="2000">
                <a:solidFill>
                  <a:schemeClr val="dk1"/>
                </a:solidFill>
              </a:rPr>
              <a:t> – With RSNorm, SimBa achieves </a:t>
            </a:r>
            <a:r>
              <a:rPr b="1" lang="en-US" sz="2000">
                <a:solidFill>
                  <a:schemeClr val="dk1"/>
                </a:solidFill>
              </a:rPr>
              <a:t>significantly higher returns</a:t>
            </a:r>
            <a:r>
              <a:rPr lang="en-US" sz="2000">
                <a:solidFill>
                  <a:schemeClr val="dk1"/>
                </a:solidFill>
              </a:rPr>
              <a:t>, scaling better with larger networks, while MLP lags behind.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Key Insight</a:t>
            </a:r>
            <a:r>
              <a:rPr lang="en-US" sz="2000">
                <a:solidFill>
                  <a:schemeClr val="dk1"/>
                </a:solidFill>
              </a:rPr>
              <a:t> – </a:t>
            </a:r>
            <a:r>
              <a:rPr b="1" lang="en-US" sz="2000">
                <a:solidFill>
                  <a:schemeClr val="dk1"/>
                </a:solidFill>
              </a:rPr>
              <a:t>RSNorm stabilizes training</a:t>
            </a:r>
            <a:r>
              <a:rPr lang="en-US" sz="2000">
                <a:solidFill>
                  <a:schemeClr val="dk1"/>
                </a:solidFill>
              </a:rPr>
              <a:t>, allowing SimBa to fully leverage larger networks, outperforming other architectures in both simplicity and performance.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89" name="Google Shape;389;g379b87ed889_0_30" title="simba-myo-obj-eas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200" y="5548175"/>
            <a:ext cx="17152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ge6_img1.jpeg" id="394" name="Google Shape;394;g379b87ed889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75" y="101525"/>
            <a:ext cx="8175650" cy="61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79b87ed889_0_163"/>
          <p:cNvSpPr txBox="1"/>
          <p:nvPr/>
        </p:nvSpPr>
        <p:spPr>
          <a:xfrm>
            <a:off x="0" y="623325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of RSNorm on Fourier Complexity and Average Return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bc10411d9_2_43"/>
          <p:cNvSpPr txBox="1"/>
          <p:nvPr>
            <p:ph type="title"/>
          </p:nvPr>
        </p:nvSpPr>
        <p:spPr>
          <a:xfrm>
            <a:off x="7031200" y="1085625"/>
            <a:ext cx="17265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metra</a:t>
            </a:r>
            <a:endParaRPr/>
          </a:p>
        </p:txBody>
      </p:sp>
      <p:pic>
        <p:nvPicPr>
          <p:cNvPr id="401" name="Google Shape;401;g37bc10411d9_2_43" title="metra_simb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2976" y="3562500"/>
            <a:ext cx="6591024" cy="329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7bc10411d9_2_43" title="metra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9375"/>
            <a:ext cx="6591074" cy="3295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7bc10411d9_2_43"/>
          <p:cNvSpPr txBox="1"/>
          <p:nvPr>
            <p:ph type="title"/>
          </p:nvPr>
        </p:nvSpPr>
        <p:spPr>
          <a:xfrm>
            <a:off x="268850" y="4638750"/>
            <a:ext cx="20058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metra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SimBA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c4a8e47fb_0_7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Residual-MPPI useful in designing responsive and realistic AI behaviors in gaming scenarios?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c4a8e47fb_0_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Residual-MPPI (Model Predictive Path Integral)</a:t>
            </a:r>
            <a:endParaRPr/>
          </a:p>
        </p:txBody>
      </p:sp>
      <p:sp>
        <p:nvSpPr>
          <p:cNvPr id="414" name="Google Shape;414;g37c4a8e47fb_0_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</a:rPr>
              <a:t>Residual-MPPI</a:t>
            </a:r>
            <a:r>
              <a:rPr i="1" lang="en-US" sz="2000">
                <a:solidFill>
                  <a:schemeClr val="dk1"/>
                </a:solidFill>
              </a:rPr>
              <a:t> is a real-time control method that helps game AI plan safe, optimal, and adaptive actions for characters or vehicles in dynamic environments.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Adaptive AI Control</a:t>
            </a:r>
            <a:r>
              <a:rPr lang="en-US" sz="2000">
                <a:solidFill>
                  <a:schemeClr val="dk1"/>
                </a:solidFill>
              </a:rPr>
              <a:t> – Enables game characters or vehicles to plan optimal actions in real-time while responding to dynamic environments.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Safety and Constraint Handling</a:t>
            </a:r>
            <a:r>
              <a:rPr lang="en-US" sz="2000">
                <a:solidFill>
                  <a:schemeClr val="dk1"/>
                </a:solidFill>
              </a:rPr>
              <a:t> – Ensures AI avoids collisions or unsafe moves, making in-game behavior realistic and reliable.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Customizable Behavior</a:t>
            </a:r>
            <a:r>
              <a:rPr lang="en-US" sz="2000">
                <a:solidFill>
                  <a:schemeClr val="dk1"/>
                </a:solidFill>
              </a:rPr>
              <a:t> – Developers can tweak cost functions to prioritize speed, energy efficiency, or style of movement.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Improved Player Experience</a:t>
            </a:r>
            <a:r>
              <a:rPr lang="en-US" sz="2000">
                <a:solidFill>
                  <a:schemeClr val="dk1"/>
                </a:solidFill>
              </a:rPr>
              <a:t> – Creates more responsive and intelligent opponents or NPCs, enhancing immersion and gameplay challenge.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g37c4a8e47fb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0" cy="346209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7c4a8e47fb_0_20"/>
          <p:cNvSpPr txBox="1"/>
          <p:nvPr/>
        </p:nvSpPr>
        <p:spPr>
          <a:xfrm>
            <a:off x="0" y="3748475"/>
            <a:ext cx="9144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Prior Policy</a:t>
            </a:r>
            <a:r>
              <a:rPr lang="en-US" sz="1500">
                <a:solidFill>
                  <a:schemeClr val="dk1"/>
                </a:solidFill>
              </a:rPr>
              <a:t> – The AI starts with a basic or default behavior (like a standard driving or movement policy).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Action Sampling</a:t>
            </a:r>
            <a:r>
              <a:rPr lang="en-US" sz="1500">
                <a:solidFill>
                  <a:schemeClr val="dk1"/>
                </a:solidFill>
              </a:rPr>
              <a:t> – Residual-MPPI generates multiple possible actions (trajectories) for the AI to explore.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Action Evaluation</a:t>
            </a:r>
            <a:r>
              <a:rPr lang="en-US" sz="1500">
                <a:solidFill>
                  <a:schemeClr val="dk1"/>
                </a:solidFill>
              </a:rPr>
              <a:t> – Each action is evaluated against goals (task completion) and constraints (safety, collisions, etc.) to pick the best one.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Customized Policy</a:t>
            </a:r>
            <a:r>
              <a:rPr lang="en-US" sz="1500">
                <a:solidFill>
                  <a:schemeClr val="dk1"/>
                </a:solidFill>
              </a:rPr>
              <a:t> – The AI updates its behavior in real-time, producing safe, optimal, and player-tailored actions.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c4a8e47fb_0_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Residual-MPPI</a:t>
            </a:r>
            <a:endParaRPr/>
          </a:p>
        </p:txBody>
      </p:sp>
      <p:sp>
        <p:nvSpPr>
          <p:cNvPr id="426" name="Google Shape;426;g37c4a8e47fb_0_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Ensures safety in reinforcement learning for critical applications, such as autonomous racing.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Overcomes the limitations of existing RL policies that struggle under distribution shifts.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Provides customizable and adaptive control to suit different scenarios.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Residual-MPPI is designed specifically to tackle these challenges effectively.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g37c4a8e47fb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72274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7c4a8e47fb_0_36"/>
          <p:cNvSpPr txBox="1"/>
          <p:nvPr/>
        </p:nvSpPr>
        <p:spPr>
          <a:xfrm>
            <a:off x="0" y="2839750"/>
            <a:ext cx="9144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Comparison of Methods:</a:t>
            </a:r>
            <a:r>
              <a:rPr lang="en-US" sz="1800">
                <a:solidFill>
                  <a:schemeClr val="dk1"/>
                </a:solidFill>
              </a:rPr>
              <a:t> The image shows two racing scenarios (Case 1 and Case 2) comparing the performance of different control methods: GT Sophy 1.0 (ground truth), Zero-shot MPPI, Few-shot MPPI, and Residual-SAC.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Visual Performance Differences:</a:t>
            </a:r>
            <a:r>
              <a:rPr lang="en-US" sz="1800">
                <a:solidFill>
                  <a:schemeClr val="dk1"/>
                </a:solidFill>
              </a:rPr>
              <a:t> Each row illustrates how the car behaves under each method, highlighting differences in trajectory and handling on the track.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Improvement with Residual-SAC:</a:t>
            </a:r>
            <a:r>
              <a:rPr lang="en-US" sz="1800">
                <a:solidFill>
                  <a:schemeClr val="dk1"/>
                </a:solidFill>
              </a:rPr>
              <a:t> The Residual-SAC method (last column) closely follows the GT Sophy 1.0 trajectory, indicating better adaptation and control compared to Zero-shot and Few-shot MPPI.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Track Context:</a:t>
            </a:r>
            <a:r>
              <a:rPr lang="en-US" sz="1800">
                <a:solidFill>
                  <a:schemeClr val="dk1"/>
                </a:solidFill>
              </a:rPr>
              <a:t> The map on the right shows the segment of the track being tested, linking the visual frames to the actual racing path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c4a8e47fb_0_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Related Work</a:t>
            </a:r>
            <a:endParaRPr/>
          </a:p>
        </p:txBody>
      </p:sp>
      <p:sp>
        <p:nvSpPr>
          <p:cNvPr id="438" name="Google Shape;438;g37c4a8e47fb_0_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Offline reinforcement learning methods, such as AWAC and SAC, have been employed to achieve safe policy learning.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Residual policy learning enhances adaptability in dynamic environments.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Various MPPI variants, including Guided, Valued, and Greedy approaches, have been investigated.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solidFill>
                  <a:schemeClr val="dk1"/>
                </a:solidFill>
              </a:rPr>
              <a:t>Gran Turismo Sophy</a:t>
            </a:r>
            <a:r>
              <a:rPr lang="en-US" sz="2000">
                <a:solidFill>
                  <a:schemeClr val="dk1"/>
                </a:solidFill>
              </a:rPr>
              <a:t> serves as a benchmark for evaluating advanced racing AI performance.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g37c4a8e47fb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75851" cy="32280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7c4a8e47fb_0_52"/>
          <p:cNvSpPr txBox="1"/>
          <p:nvPr/>
        </p:nvSpPr>
        <p:spPr>
          <a:xfrm>
            <a:off x="0" y="3350900"/>
            <a:ext cx="8465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Comparison of MPPI Variants:</a:t>
            </a:r>
            <a:r>
              <a:rPr lang="en-US" sz="1500">
                <a:solidFill>
                  <a:schemeClr val="dk1"/>
                </a:solidFill>
              </a:rPr>
              <a:t> The left two panels show racing scenarios from a rear-view perspective, comparing how the Greedy-MPPI (a) and Guided-MPPI (b) control the car on the track.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Trajectory Differences:</a:t>
            </a:r>
            <a:r>
              <a:rPr lang="en-US" sz="1500">
                <a:solidFill>
                  <a:schemeClr val="dk1"/>
                </a:solidFill>
              </a:rPr>
              <a:t> The right panel shows the planned trajectories of different controllers: GT-Sophy (benchmark), Few-shot MPPI, Guided-MPPI, and Greedy-MPPI, highlighting how each method navigates the curve.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Performance Insights:</a:t>
            </a:r>
            <a:r>
              <a:rPr lang="en-US" sz="1500">
                <a:solidFill>
                  <a:schemeClr val="dk1"/>
                </a:solidFill>
              </a:rPr>
              <a:t> Greedy-MPPI tends to take a more aggressive path, while Guided-MPPI follows a smoother and safer trajectory closer to the GT-Sophy benchmark.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Controller Behavior Analysis:</a:t>
            </a:r>
            <a:r>
              <a:rPr lang="en-US" sz="1500">
                <a:solidFill>
                  <a:schemeClr val="dk1"/>
                </a:solidFill>
              </a:rPr>
              <a:t> The figure demonstrates that Guided-MPPI more accurately mimics the optimal benchmark trajectory, indicating better adaptability and safety compared to Greedy-MPPI.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c4a8e47fb_0_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Methodology(Overview)</a:t>
            </a:r>
            <a:endParaRPr/>
          </a:p>
        </p:txBody>
      </p:sp>
      <p:sp>
        <p:nvSpPr>
          <p:cNvPr id="450" name="Google Shape;450;g37c4a8e47fb_0_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Residual-MPPI</a:t>
            </a:r>
            <a:r>
              <a:rPr lang="en-US" sz="2000">
                <a:solidFill>
                  <a:schemeClr val="dk1"/>
                </a:solidFill>
              </a:rPr>
              <a:t> combines classical Model Predictive Path Integral (MPPI) control with residual learning.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Introduces corrective adjustments to the standard MPPI trajectory sampling process.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Seamlessly integrates learned system dynamics into the planning loop for improved performance.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Enables zero-shot and few-shot customization for adaptive and flexible control.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c1c0d1614_0_8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Applicables and Benefits</a:t>
            </a:r>
            <a:endParaRPr/>
          </a:p>
        </p:txBody>
      </p:sp>
      <p:graphicFrame>
        <p:nvGraphicFramePr>
          <p:cNvPr id="456" name="Google Shape;456;g37c1c0d1614_0_819"/>
          <p:cNvGraphicFramePr/>
          <p:nvPr/>
        </p:nvGraphicFramePr>
        <p:xfrm>
          <a:off x="311700" y="185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{10314288-EFBC-4375-946D-B94B9F5ED18E}</a:tableStyleId>
              </a:tblPr>
              <a:tblGrid>
                <a:gridCol w="2462575"/>
                <a:gridCol w="2295475"/>
                <a:gridCol w="36235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Technique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Application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Benefits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Transformer-Based Reinforcement Learning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Training complex game AI agents (e.g., </a:t>
                      </a:r>
                      <a:r>
                        <a:rPr i="1" lang="en-US" sz="1300"/>
                        <a:t>StarCraft II</a:t>
                      </a:r>
                      <a:r>
                        <a:rPr lang="en-US" sz="1300"/>
                        <a:t>)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Handles long-term planning, improves strategic decision-making, learns complex patterns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Multi-Agent Deep Reinforcement Learning (MADRL)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Team-based AI coordination in cooperative games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Enables collaboration, realistic group behavior, emergent strategies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Procedural Content &amp; AI-Driven Narrative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Dynamic storylines and levels (e.g., </a:t>
                      </a:r>
                      <a:r>
                        <a:rPr i="1" lang="en-US" sz="1300"/>
                        <a:t>AI Dungeon</a:t>
                      </a:r>
                      <a:r>
                        <a:rPr lang="en-US" sz="1300"/>
                        <a:t>)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Increases replayability, personalized experiences, reduces manual content creation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SimBa for Real-Time Behavior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Adaptive NPC behavior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NPCs respond realistically to player actions, improves immersion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Residual-MPPI for Adaptive Control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Real-time vehicle or robot control in simulation games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Smooth and adaptive motion, robust performance in unpredictable environments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C8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7c1c0d1614_0_8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solidFill>
            <a:srgbClr val="D2C8B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62" name="Google Shape;462;g37c1c0d1614_0_8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Interactive Learning</a:t>
            </a:r>
            <a:r>
              <a:rPr lang="en-US" sz="2000">
                <a:solidFill>
                  <a:schemeClr val="dk1"/>
                </a:solidFill>
              </a:rPr>
              <a:t> – Video games provide an engaging platform to understand and experiment with deep learning concepts in real-time.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Safe Experimentation</a:t>
            </a:r>
            <a:r>
              <a:rPr lang="en-US" sz="2000">
                <a:solidFill>
                  <a:schemeClr val="dk1"/>
                </a:solidFill>
              </a:rPr>
              <a:t> – Simulated environments allow testing AI strategies and behaviors without real-world risks.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Broader Applications</a:t>
            </a:r>
            <a:r>
              <a:rPr lang="en-US" sz="2000">
                <a:solidFill>
                  <a:schemeClr val="dk1"/>
                </a:solidFill>
              </a:rPr>
              <a:t> – Techniques developed in games (e.g., adaptive control, multi-agent learning) are directly applicable to simulators, robotics, and real-world scenarios.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Innovation &amp; Skill Development</a:t>
            </a:r>
            <a:r>
              <a:rPr lang="en-US" sz="2000">
                <a:solidFill>
                  <a:schemeClr val="dk1"/>
                </a:solidFill>
              </a:rPr>
              <a:t> – Promoting deep learning through games fosters creativity, problem-solving, and prepares learners for diverse AI applications.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vocational education students  flight simulator training (Provided by Getty Images)" id="463" name="Google Shape;463;g37c1c0d1614_0_8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025" y="5567798"/>
            <a:ext cx="1703849" cy="113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